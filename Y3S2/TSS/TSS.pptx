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1" r:id="rId4"/>
    <p:sldId id="259" r:id="rId5"/>
    <p:sldId id="258" r:id="rId6"/>
    <p:sldId id="267" r:id="rId7"/>
    <p:sldId id="268" r:id="rId8"/>
    <p:sldId id="270" r:id="rId9"/>
    <p:sldId id="260" r:id="rId10"/>
    <p:sldId id="261" r:id="rId11"/>
    <p:sldId id="262" r:id="rId12"/>
    <p:sldId id="263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20"/>
    <p:restoredTop sz="96327"/>
  </p:normalViewPr>
  <p:slideViewPr>
    <p:cSldViewPr snapToGrid="0" snapToObjects="1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CB0B4-F473-4EA9-86E3-6552033F729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E0CAA9-C9B4-426E-8E94-D87C64583DF9}">
      <dgm:prSet/>
      <dgm:spPr/>
      <dgm:t>
        <a:bodyPr/>
        <a:lstStyle/>
        <a:p>
          <a:r>
            <a:rPr lang="en-US" b="0" i="0" dirty="0"/>
            <a:t>Ne-am </a:t>
          </a:r>
          <a:r>
            <a:rPr lang="en-US" b="0" i="0" dirty="0" err="1"/>
            <a:t>concentrat</a:t>
          </a:r>
          <a:r>
            <a:rPr lang="en-US" b="0" i="0" dirty="0"/>
            <a:t> pe </a:t>
          </a:r>
          <a:r>
            <a:rPr lang="en-US" b="0" i="0" dirty="0" err="1"/>
            <a:t>deciziile</a:t>
          </a:r>
          <a:r>
            <a:rPr lang="en-US" b="0" i="0" dirty="0"/>
            <a:t> </a:t>
          </a:r>
          <a:r>
            <a:rPr lang="en-US" b="0" i="0" dirty="0" err="1"/>
            <a:t>compuse</a:t>
          </a:r>
          <a:r>
            <a:rPr lang="en-US" b="0" i="0" dirty="0"/>
            <a:t> (</a:t>
          </a:r>
          <a:r>
            <a:rPr lang="en-US" b="0" i="0" dirty="0" err="1"/>
            <a:t>cele</a:t>
          </a:r>
          <a:r>
            <a:rPr lang="en-US" b="0" i="0" dirty="0"/>
            <a:t> cu OR || </a:t>
          </a:r>
          <a:r>
            <a:rPr lang="en-US" b="0" i="0" dirty="0" err="1"/>
            <a:t>și</a:t>
          </a:r>
          <a:r>
            <a:rPr lang="en-US" b="0" i="0" dirty="0"/>
            <a:t> AND &amp;&amp;).</a:t>
          </a:r>
          <a:endParaRPr lang="en-US" dirty="0"/>
        </a:p>
      </dgm:t>
    </dgm:pt>
    <dgm:pt modelId="{4F2A1378-A040-44B6-9396-48272F31A500}" type="parTrans" cxnId="{E956D96A-1F67-4BDA-A89D-FC638F0156D4}">
      <dgm:prSet/>
      <dgm:spPr/>
      <dgm:t>
        <a:bodyPr/>
        <a:lstStyle/>
        <a:p>
          <a:endParaRPr lang="en-US"/>
        </a:p>
      </dgm:t>
    </dgm:pt>
    <dgm:pt modelId="{EC400609-E034-42DD-8748-BB8604CEF752}" type="sibTrans" cxnId="{E956D96A-1F67-4BDA-A89D-FC638F0156D4}">
      <dgm:prSet/>
      <dgm:spPr/>
      <dgm:t>
        <a:bodyPr/>
        <a:lstStyle/>
        <a:p>
          <a:endParaRPr lang="en-US"/>
        </a:p>
      </dgm:t>
    </dgm:pt>
    <dgm:pt modelId="{3412C082-2917-4BD7-A575-C7113C13F50D}">
      <dgm:prSet/>
      <dgm:spPr/>
      <dgm:t>
        <a:bodyPr/>
        <a:lstStyle/>
        <a:p>
          <a:r>
            <a:rPr lang="en-US" b="0" i="0" dirty="0"/>
            <a:t>Am </a:t>
          </a:r>
          <a:r>
            <a:rPr lang="en-US" b="0" i="0" dirty="0" err="1"/>
            <a:t>izolat</a:t>
          </a:r>
          <a:r>
            <a:rPr lang="en-US" b="0" i="0" dirty="0"/>
            <a:t> </a:t>
          </a:r>
          <a:r>
            <a:rPr lang="en-US" b="0" i="0" dirty="0" err="1"/>
            <a:t>fiecare</a:t>
          </a:r>
          <a:r>
            <a:rPr lang="en-US" b="0" i="0" dirty="0"/>
            <a:t> sub-</a:t>
          </a:r>
          <a:r>
            <a:rPr lang="en-US" b="0" i="0" dirty="0" err="1"/>
            <a:t>condiție</a:t>
          </a:r>
          <a:r>
            <a:rPr lang="en-US" b="0" i="0" dirty="0"/>
            <a:t> </a:t>
          </a:r>
          <a:r>
            <a:rPr lang="en-US" b="0" i="0" dirty="0" err="1"/>
            <a:t>pentru</a:t>
          </a:r>
          <a:r>
            <a:rPr lang="en-US" b="0" i="0" dirty="0"/>
            <a:t> a </a:t>
          </a:r>
          <a:r>
            <a:rPr lang="en-US" b="0" i="0" dirty="0" err="1"/>
            <a:t>demonstra</a:t>
          </a:r>
          <a:r>
            <a:rPr lang="en-US" b="0" i="0" dirty="0"/>
            <a:t> </a:t>
          </a:r>
          <a:r>
            <a:rPr lang="en-US" b="0" i="0" dirty="0" err="1"/>
            <a:t>că</a:t>
          </a:r>
          <a:r>
            <a:rPr lang="en-US" b="0" i="0" dirty="0"/>
            <a:t> are o </a:t>
          </a:r>
          <a:r>
            <a:rPr lang="en-US" b="0" i="0" dirty="0" err="1"/>
            <a:t>influență</a:t>
          </a:r>
          <a:r>
            <a:rPr lang="en-US" b="0" i="0" dirty="0"/>
            <a:t> </a:t>
          </a:r>
          <a:r>
            <a:rPr lang="en-US" b="0" i="0" dirty="0" err="1"/>
            <a:t>reală</a:t>
          </a:r>
          <a:r>
            <a:rPr lang="en-US" b="0" i="0" dirty="0"/>
            <a:t>, de sine </a:t>
          </a:r>
          <a:r>
            <a:rPr lang="en-US" b="0" i="0" dirty="0" err="1"/>
            <a:t>stătătoare</a:t>
          </a:r>
          <a:r>
            <a:rPr lang="en-US" b="0" i="0" dirty="0"/>
            <a:t>, </a:t>
          </a:r>
          <a:r>
            <a:rPr lang="en-US" b="0" i="0" dirty="0" err="1"/>
            <a:t>asupra</a:t>
          </a:r>
          <a:r>
            <a:rPr lang="en-US" b="0" i="0" dirty="0"/>
            <a:t> </a:t>
          </a:r>
          <a:r>
            <a:rPr lang="en-US" b="0" i="0" dirty="0" err="1"/>
            <a:t>deciziei</a:t>
          </a:r>
          <a:r>
            <a:rPr lang="en-US" b="0" i="0" dirty="0"/>
            <a:t>.</a:t>
          </a:r>
          <a:endParaRPr lang="en-US" dirty="0"/>
        </a:p>
      </dgm:t>
    </dgm:pt>
    <dgm:pt modelId="{B42690A7-A2CE-4FAD-9B27-7A184880EF20}" type="parTrans" cxnId="{79215F67-BA86-4E7F-A61C-43BCF6971F43}">
      <dgm:prSet/>
      <dgm:spPr/>
      <dgm:t>
        <a:bodyPr/>
        <a:lstStyle/>
        <a:p>
          <a:endParaRPr lang="en-US"/>
        </a:p>
      </dgm:t>
    </dgm:pt>
    <dgm:pt modelId="{FB60D270-FA64-4EC2-B5E2-E74E3531B99D}" type="sibTrans" cxnId="{79215F67-BA86-4E7F-A61C-43BCF6971F43}">
      <dgm:prSet/>
      <dgm:spPr/>
      <dgm:t>
        <a:bodyPr/>
        <a:lstStyle/>
        <a:p>
          <a:endParaRPr lang="en-US"/>
        </a:p>
      </dgm:t>
    </dgm:pt>
    <dgm:pt modelId="{26CCBE8E-B2D8-4731-BB24-6933B859BEBD}">
      <dgm:prSet/>
      <dgm:spPr/>
      <dgm:t>
        <a:bodyPr/>
        <a:lstStyle/>
        <a:p>
          <a:r>
            <a:rPr lang="en-US" b="0" i="0" dirty="0"/>
            <a:t>Ex: </a:t>
          </a:r>
          <a:r>
            <a:rPr lang="en-US" b="0" i="0" dirty="0" err="1"/>
            <a:t>Pentru</a:t>
          </a:r>
          <a:r>
            <a:rPr lang="en-US" b="0" i="0" dirty="0"/>
            <a:t> </a:t>
          </a:r>
          <a:r>
            <a:rPr lang="en-US" b="0" i="0" dirty="0" err="1"/>
            <a:t>decizia</a:t>
          </a:r>
          <a:r>
            <a:rPr lang="en-US" b="0" i="0" dirty="0"/>
            <a:t> de </a:t>
          </a:r>
          <a:r>
            <a:rPr lang="en-US" b="0" i="0" dirty="0" err="1"/>
            <a:t>validare</a:t>
          </a:r>
          <a:r>
            <a:rPr lang="en-US" b="0" i="0" dirty="0"/>
            <a:t> (score &lt; 0 || score &gt; 100), am </a:t>
          </a:r>
          <a:r>
            <a:rPr lang="en-US" b="0" i="0" dirty="0" err="1"/>
            <a:t>testat</a:t>
          </a:r>
          <a:r>
            <a:rPr lang="en-US" b="0" i="0" dirty="0"/>
            <a:t> </a:t>
          </a:r>
          <a:r>
            <a:rPr lang="en-US" b="0" i="0" dirty="0" err="1"/>
            <a:t>modificarea</a:t>
          </a:r>
          <a:r>
            <a:rPr lang="en-US" b="0" i="0" dirty="0"/>
            <a:t> </a:t>
          </a:r>
          <a:r>
            <a:rPr lang="en-US" b="0" i="0" dirty="0" err="1"/>
            <a:t>doar</a:t>
          </a:r>
          <a:r>
            <a:rPr lang="en-US" b="0" i="0" dirty="0"/>
            <a:t> a </a:t>
          </a:r>
          <a:r>
            <a:rPr lang="en-US" b="0" i="0" dirty="0" err="1"/>
            <a:t>unei</a:t>
          </a:r>
          <a:r>
            <a:rPr lang="en-US" b="0" i="0" dirty="0"/>
            <a:t> </a:t>
          </a:r>
          <a:r>
            <a:rPr lang="en-US" b="0" i="0" dirty="0" err="1"/>
            <a:t>părți</a:t>
          </a:r>
          <a:r>
            <a:rPr lang="en-US" b="0" i="0" dirty="0"/>
            <a:t> din </a:t>
          </a:r>
          <a:r>
            <a:rPr lang="en-US" b="0" i="0" dirty="0" err="1"/>
            <a:t>ecuație</a:t>
          </a:r>
          <a:r>
            <a:rPr lang="en-US" b="0" i="0" dirty="0"/>
            <a:t>, </a:t>
          </a:r>
          <a:r>
            <a:rPr lang="en-US" b="0" i="0" dirty="0" err="1"/>
            <a:t>demonstrând</a:t>
          </a:r>
          <a:r>
            <a:rPr lang="en-US" b="0" i="0" dirty="0"/>
            <a:t> </a:t>
          </a:r>
          <a:r>
            <a:rPr lang="en-US" b="0" i="0" dirty="0" err="1"/>
            <a:t>că</a:t>
          </a:r>
          <a:r>
            <a:rPr lang="en-US" b="0" i="0" dirty="0"/>
            <a:t> </a:t>
          </a:r>
          <a:r>
            <a:rPr lang="en-US" b="0" i="0" dirty="0" err="1"/>
            <a:t>prinde</a:t>
          </a:r>
          <a:r>
            <a:rPr lang="en-US" b="0" i="0" dirty="0"/>
            <a:t> </a:t>
          </a:r>
          <a:r>
            <a:rPr lang="en-US" b="0" i="0" dirty="0" err="1"/>
            <a:t>eroarea</a:t>
          </a:r>
          <a:r>
            <a:rPr lang="en-US" b="0" i="0" dirty="0"/>
            <a:t> </a:t>
          </a:r>
          <a:r>
            <a:rPr lang="en-US" b="0" i="0" dirty="0" err="1"/>
            <a:t>corect</a:t>
          </a:r>
          <a:r>
            <a:rPr lang="en-US" b="0" i="0" dirty="0"/>
            <a:t> la extreme.</a:t>
          </a:r>
          <a:endParaRPr lang="en-US" dirty="0"/>
        </a:p>
      </dgm:t>
    </dgm:pt>
    <dgm:pt modelId="{CD46C544-2D55-4D45-B153-FB212B9D0B2E}" type="parTrans" cxnId="{CF852304-F6D9-4FA5-8359-613F7C6576ED}">
      <dgm:prSet/>
      <dgm:spPr/>
      <dgm:t>
        <a:bodyPr/>
        <a:lstStyle/>
        <a:p>
          <a:endParaRPr lang="en-US"/>
        </a:p>
      </dgm:t>
    </dgm:pt>
    <dgm:pt modelId="{9E808155-CEED-4BE5-97E6-DCE1FB35E430}" type="sibTrans" cxnId="{CF852304-F6D9-4FA5-8359-613F7C6576ED}">
      <dgm:prSet/>
      <dgm:spPr/>
      <dgm:t>
        <a:bodyPr/>
        <a:lstStyle/>
        <a:p>
          <a:endParaRPr lang="en-US"/>
        </a:p>
      </dgm:t>
    </dgm:pt>
    <dgm:pt modelId="{CAEF72F9-1285-4F3F-935B-0BAD288596EB}" type="pres">
      <dgm:prSet presAssocID="{F1BCB0B4-F473-4EA9-86E3-6552033F72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0F8444-FD1F-483D-8CEE-89D9EE444E80}" type="pres">
      <dgm:prSet presAssocID="{1CE0CAA9-C9B4-426E-8E94-D87C64583DF9}" presName="hierRoot1" presStyleCnt="0"/>
      <dgm:spPr/>
    </dgm:pt>
    <dgm:pt modelId="{D003444E-559B-4DC6-BC51-950A9845DB66}" type="pres">
      <dgm:prSet presAssocID="{1CE0CAA9-C9B4-426E-8E94-D87C64583DF9}" presName="composite" presStyleCnt="0"/>
      <dgm:spPr/>
    </dgm:pt>
    <dgm:pt modelId="{E65616AE-781F-40F5-8E4C-2495DBC2BB85}" type="pres">
      <dgm:prSet presAssocID="{1CE0CAA9-C9B4-426E-8E94-D87C64583DF9}" presName="background" presStyleLbl="node0" presStyleIdx="0" presStyleCnt="3"/>
      <dgm:spPr/>
    </dgm:pt>
    <dgm:pt modelId="{FD74CC86-E784-4B08-9415-A4948D1415D4}" type="pres">
      <dgm:prSet presAssocID="{1CE0CAA9-C9B4-426E-8E94-D87C64583DF9}" presName="text" presStyleLbl="fgAcc0" presStyleIdx="0" presStyleCnt="3">
        <dgm:presLayoutVars>
          <dgm:chPref val="3"/>
        </dgm:presLayoutVars>
      </dgm:prSet>
      <dgm:spPr/>
    </dgm:pt>
    <dgm:pt modelId="{C0172609-C1CE-454B-BA36-331CCB7925CE}" type="pres">
      <dgm:prSet presAssocID="{1CE0CAA9-C9B4-426E-8E94-D87C64583DF9}" presName="hierChild2" presStyleCnt="0"/>
      <dgm:spPr/>
    </dgm:pt>
    <dgm:pt modelId="{9038D39D-78CD-4ED6-BF5F-3E18ED93E5AF}" type="pres">
      <dgm:prSet presAssocID="{3412C082-2917-4BD7-A575-C7113C13F50D}" presName="hierRoot1" presStyleCnt="0"/>
      <dgm:spPr/>
    </dgm:pt>
    <dgm:pt modelId="{A2352617-DB7A-4CB3-9F9E-17B4E5C782D5}" type="pres">
      <dgm:prSet presAssocID="{3412C082-2917-4BD7-A575-C7113C13F50D}" presName="composite" presStyleCnt="0"/>
      <dgm:spPr/>
    </dgm:pt>
    <dgm:pt modelId="{245ED043-F0CE-4D01-8E1F-04E751DC6EAA}" type="pres">
      <dgm:prSet presAssocID="{3412C082-2917-4BD7-A575-C7113C13F50D}" presName="background" presStyleLbl="node0" presStyleIdx="1" presStyleCnt="3"/>
      <dgm:spPr/>
    </dgm:pt>
    <dgm:pt modelId="{EDE0DECB-D632-4652-BB39-02A73B92AFD8}" type="pres">
      <dgm:prSet presAssocID="{3412C082-2917-4BD7-A575-C7113C13F50D}" presName="text" presStyleLbl="fgAcc0" presStyleIdx="1" presStyleCnt="3">
        <dgm:presLayoutVars>
          <dgm:chPref val="3"/>
        </dgm:presLayoutVars>
      </dgm:prSet>
      <dgm:spPr/>
    </dgm:pt>
    <dgm:pt modelId="{BEC5292F-773C-465B-A473-36E20DCDD269}" type="pres">
      <dgm:prSet presAssocID="{3412C082-2917-4BD7-A575-C7113C13F50D}" presName="hierChild2" presStyleCnt="0"/>
      <dgm:spPr/>
    </dgm:pt>
    <dgm:pt modelId="{039EE9E7-4071-45CE-AC7D-1DEB8996F97A}" type="pres">
      <dgm:prSet presAssocID="{26CCBE8E-B2D8-4731-BB24-6933B859BEBD}" presName="hierRoot1" presStyleCnt="0"/>
      <dgm:spPr/>
    </dgm:pt>
    <dgm:pt modelId="{A240BB16-7B71-46FF-856B-9E04FA5181D0}" type="pres">
      <dgm:prSet presAssocID="{26CCBE8E-B2D8-4731-BB24-6933B859BEBD}" presName="composite" presStyleCnt="0"/>
      <dgm:spPr/>
    </dgm:pt>
    <dgm:pt modelId="{C947015B-A415-430B-A497-27947E05E158}" type="pres">
      <dgm:prSet presAssocID="{26CCBE8E-B2D8-4731-BB24-6933B859BEBD}" presName="background" presStyleLbl="node0" presStyleIdx="2" presStyleCnt="3"/>
      <dgm:spPr/>
    </dgm:pt>
    <dgm:pt modelId="{0385D555-EE79-4A32-8DDD-56A6A3C71081}" type="pres">
      <dgm:prSet presAssocID="{26CCBE8E-B2D8-4731-BB24-6933B859BEBD}" presName="text" presStyleLbl="fgAcc0" presStyleIdx="2" presStyleCnt="3">
        <dgm:presLayoutVars>
          <dgm:chPref val="3"/>
        </dgm:presLayoutVars>
      </dgm:prSet>
      <dgm:spPr/>
    </dgm:pt>
    <dgm:pt modelId="{88142E22-F723-4526-8C0E-9C10201AB44F}" type="pres">
      <dgm:prSet presAssocID="{26CCBE8E-B2D8-4731-BB24-6933B859BEBD}" presName="hierChild2" presStyleCnt="0"/>
      <dgm:spPr/>
    </dgm:pt>
  </dgm:ptLst>
  <dgm:cxnLst>
    <dgm:cxn modelId="{CF852304-F6D9-4FA5-8359-613F7C6576ED}" srcId="{F1BCB0B4-F473-4EA9-86E3-6552033F7295}" destId="{26CCBE8E-B2D8-4731-BB24-6933B859BEBD}" srcOrd="2" destOrd="0" parTransId="{CD46C544-2D55-4D45-B153-FB212B9D0B2E}" sibTransId="{9E808155-CEED-4BE5-97E6-DCE1FB35E430}"/>
    <dgm:cxn modelId="{0FE6D90C-3F36-4A04-A362-2F5A9CB9D68E}" type="presOf" srcId="{1CE0CAA9-C9B4-426E-8E94-D87C64583DF9}" destId="{FD74CC86-E784-4B08-9415-A4948D1415D4}" srcOrd="0" destOrd="0" presId="urn:microsoft.com/office/officeart/2005/8/layout/hierarchy1"/>
    <dgm:cxn modelId="{226BF943-E3E2-4F0F-87D1-E2ABEFF2FA0D}" type="presOf" srcId="{26CCBE8E-B2D8-4731-BB24-6933B859BEBD}" destId="{0385D555-EE79-4A32-8DDD-56A6A3C71081}" srcOrd="0" destOrd="0" presId="urn:microsoft.com/office/officeart/2005/8/layout/hierarchy1"/>
    <dgm:cxn modelId="{79215F67-BA86-4E7F-A61C-43BCF6971F43}" srcId="{F1BCB0B4-F473-4EA9-86E3-6552033F7295}" destId="{3412C082-2917-4BD7-A575-C7113C13F50D}" srcOrd="1" destOrd="0" parTransId="{B42690A7-A2CE-4FAD-9B27-7A184880EF20}" sibTransId="{FB60D270-FA64-4EC2-B5E2-E74E3531B99D}"/>
    <dgm:cxn modelId="{E956D96A-1F67-4BDA-A89D-FC638F0156D4}" srcId="{F1BCB0B4-F473-4EA9-86E3-6552033F7295}" destId="{1CE0CAA9-C9B4-426E-8E94-D87C64583DF9}" srcOrd="0" destOrd="0" parTransId="{4F2A1378-A040-44B6-9396-48272F31A500}" sibTransId="{EC400609-E034-42DD-8748-BB8604CEF752}"/>
    <dgm:cxn modelId="{7A554982-9923-4A29-9E91-F3B11A7625EB}" type="presOf" srcId="{F1BCB0B4-F473-4EA9-86E3-6552033F7295}" destId="{CAEF72F9-1285-4F3F-935B-0BAD288596EB}" srcOrd="0" destOrd="0" presId="urn:microsoft.com/office/officeart/2005/8/layout/hierarchy1"/>
    <dgm:cxn modelId="{7FB29BE8-9250-4B77-AF93-CF56C6310782}" type="presOf" srcId="{3412C082-2917-4BD7-A575-C7113C13F50D}" destId="{EDE0DECB-D632-4652-BB39-02A73B92AFD8}" srcOrd="0" destOrd="0" presId="urn:microsoft.com/office/officeart/2005/8/layout/hierarchy1"/>
    <dgm:cxn modelId="{88F2FE6D-760F-47E1-8E94-CDC96AB7F43D}" type="presParOf" srcId="{CAEF72F9-1285-4F3F-935B-0BAD288596EB}" destId="{FE0F8444-FD1F-483D-8CEE-89D9EE444E80}" srcOrd="0" destOrd="0" presId="urn:microsoft.com/office/officeart/2005/8/layout/hierarchy1"/>
    <dgm:cxn modelId="{AC950B52-3BF9-4D3F-9D81-8E9D4CF2B6D9}" type="presParOf" srcId="{FE0F8444-FD1F-483D-8CEE-89D9EE444E80}" destId="{D003444E-559B-4DC6-BC51-950A9845DB66}" srcOrd="0" destOrd="0" presId="urn:microsoft.com/office/officeart/2005/8/layout/hierarchy1"/>
    <dgm:cxn modelId="{2D7B2925-C5B0-4034-A633-BB5962D3C3EB}" type="presParOf" srcId="{D003444E-559B-4DC6-BC51-950A9845DB66}" destId="{E65616AE-781F-40F5-8E4C-2495DBC2BB85}" srcOrd="0" destOrd="0" presId="urn:microsoft.com/office/officeart/2005/8/layout/hierarchy1"/>
    <dgm:cxn modelId="{9AEB896C-FC14-4CCB-B5C5-F5EC3B63E780}" type="presParOf" srcId="{D003444E-559B-4DC6-BC51-950A9845DB66}" destId="{FD74CC86-E784-4B08-9415-A4948D1415D4}" srcOrd="1" destOrd="0" presId="urn:microsoft.com/office/officeart/2005/8/layout/hierarchy1"/>
    <dgm:cxn modelId="{7ADBC001-B603-43DD-8A55-A59CDEA8191A}" type="presParOf" srcId="{FE0F8444-FD1F-483D-8CEE-89D9EE444E80}" destId="{C0172609-C1CE-454B-BA36-331CCB7925CE}" srcOrd="1" destOrd="0" presId="urn:microsoft.com/office/officeart/2005/8/layout/hierarchy1"/>
    <dgm:cxn modelId="{6E46BF32-A714-46A1-837F-2DC3FA3B5CBE}" type="presParOf" srcId="{CAEF72F9-1285-4F3F-935B-0BAD288596EB}" destId="{9038D39D-78CD-4ED6-BF5F-3E18ED93E5AF}" srcOrd="1" destOrd="0" presId="urn:microsoft.com/office/officeart/2005/8/layout/hierarchy1"/>
    <dgm:cxn modelId="{7FEF001A-BD18-4F2A-9A03-71C1EBECBF93}" type="presParOf" srcId="{9038D39D-78CD-4ED6-BF5F-3E18ED93E5AF}" destId="{A2352617-DB7A-4CB3-9F9E-17B4E5C782D5}" srcOrd="0" destOrd="0" presId="urn:microsoft.com/office/officeart/2005/8/layout/hierarchy1"/>
    <dgm:cxn modelId="{B7DF85C9-4235-40FD-BDD0-3FDF1D56F7E1}" type="presParOf" srcId="{A2352617-DB7A-4CB3-9F9E-17B4E5C782D5}" destId="{245ED043-F0CE-4D01-8E1F-04E751DC6EAA}" srcOrd="0" destOrd="0" presId="urn:microsoft.com/office/officeart/2005/8/layout/hierarchy1"/>
    <dgm:cxn modelId="{FDF60F33-9B76-4151-B045-278A31C25A86}" type="presParOf" srcId="{A2352617-DB7A-4CB3-9F9E-17B4E5C782D5}" destId="{EDE0DECB-D632-4652-BB39-02A73B92AFD8}" srcOrd="1" destOrd="0" presId="urn:microsoft.com/office/officeart/2005/8/layout/hierarchy1"/>
    <dgm:cxn modelId="{2B4A818A-3779-4E39-BC1B-6BB1FF8F3BFB}" type="presParOf" srcId="{9038D39D-78CD-4ED6-BF5F-3E18ED93E5AF}" destId="{BEC5292F-773C-465B-A473-36E20DCDD269}" srcOrd="1" destOrd="0" presId="urn:microsoft.com/office/officeart/2005/8/layout/hierarchy1"/>
    <dgm:cxn modelId="{557B8E50-63FC-42A9-B3A8-9CF76AFD9416}" type="presParOf" srcId="{CAEF72F9-1285-4F3F-935B-0BAD288596EB}" destId="{039EE9E7-4071-45CE-AC7D-1DEB8996F97A}" srcOrd="2" destOrd="0" presId="urn:microsoft.com/office/officeart/2005/8/layout/hierarchy1"/>
    <dgm:cxn modelId="{67739009-0677-416B-B105-35B52B1AF677}" type="presParOf" srcId="{039EE9E7-4071-45CE-AC7D-1DEB8996F97A}" destId="{A240BB16-7B71-46FF-856B-9E04FA5181D0}" srcOrd="0" destOrd="0" presId="urn:microsoft.com/office/officeart/2005/8/layout/hierarchy1"/>
    <dgm:cxn modelId="{B38BB447-CA2F-4DB1-97BF-549C524A58D3}" type="presParOf" srcId="{A240BB16-7B71-46FF-856B-9E04FA5181D0}" destId="{C947015B-A415-430B-A497-27947E05E158}" srcOrd="0" destOrd="0" presId="urn:microsoft.com/office/officeart/2005/8/layout/hierarchy1"/>
    <dgm:cxn modelId="{7B14AC2A-4FDA-4354-94C3-99E1AF8D4736}" type="presParOf" srcId="{A240BB16-7B71-46FF-856B-9E04FA5181D0}" destId="{0385D555-EE79-4A32-8DDD-56A6A3C71081}" srcOrd="1" destOrd="0" presId="urn:microsoft.com/office/officeart/2005/8/layout/hierarchy1"/>
    <dgm:cxn modelId="{9A5A0289-AE74-40E2-9482-EEBC4767FE13}" type="presParOf" srcId="{039EE9E7-4071-45CE-AC7D-1DEB8996F97A}" destId="{88142E22-F723-4526-8C0E-9C10201AB4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987E7C-EB72-45B0-9810-FD553DE3DDE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62A64A0-3C0C-46AC-8B3C-FA37420969B7}">
      <dgm:prSet/>
      <dgm:spPr/>
      <dgm:t>
        <a:bodyPr/>
        <a:lstStyle/>
        <a:p>
          <a:r>
            <a:rPr lang="en-US" dirty="0"/>
            <a:t>• Scop: </a:t>
          </a:r>
          <a:r>
            <a:rPr lang="en-US" dirty="0" err="1"/>
            <a:t>Verificarea</a:t>
          </a:r>
          <a:r>
            <a:rPr lang="en-US" dirty="0"/>
            <a:t> </a:t>
          </a:r>
          <a:r>
            <a:rPr lang="en-US" dirty="0" err="1"/>
            <a:t>barierelor</a:t>
          </a:r>
          <a:r>
            <a:rPr lang="en-US" dirty="0"/>
            <a:t> de </a:t>
          </a:r>
          <a:r>
            <a:rPr lang="en-US" dirty="0" err="1"/>
            <a:t>protecție</a:t>
          </a:r>
          <a:r>
            <a:rPr lang="en-US" dirty="0"/>
            <a:t> a </a:t>
          </a:r>
          <a:r>
            <a:rPr lang="en-US" dirty="0" err="1"/>
            <a:t>testelor</a:t>
          </a:r>
          <a:r>
            <a:rPr lang="en-US" dirty="0"/>
            <a:t>. A </a:t>
          </a:r>
          <a:r>
            <a:rPr lang="en-US" dirty="0" err="1"/>
            <a:t>fost</a:t>
          </a:r>
          <a:r>
            <a:rPr lang="en-US" dirty="0"/>
            <a:t> </a:t>
          </a:r>
          <a:r>
            <a:rPr lang="en-US" dirty="0" err="1"/>
            <a:t>rulat</a:t>
          </a:r>
          <a:r>
            <a:rPr lang="en-US" dirty="0"/>
            <a:t> </a:t>
          </a:r>
          <a:r>
            <a:rPr lang="en-US" dirty="0" err="1"/>
            <a:t>pluginul</a:t>
          </a:r>
          <a:r>
            <a:rPr lang="en-US" dirty="0"/>
            <a:t> de </a:t>
          </a:r>
          <a:r>
            <a:rPr lang="en-US" dirty="0" err="1"/>
            <a:t>injectie</a:t>
          </a:r>
          <a:r>
            <a:rPr lang="en-US" dirty="0"/>
            <a:t> PIT.</a:t>
          </a:r>
        </a:p>
      </dgm:t>
    </dgm:pt>
    <dgm:pt modelId="{E874924C-2FAC-4A93-A284-3DC3CB5178E2}" type="parTrans" cxnId="{E8F5BDD0-F854-4874-A8B6-55EF6D5E5389}">
      <dgm:prSet/>
      <dgm:spPr/>
      <dgm:t>
        <a:bodyPr/>
        <a:lstStyle/>
        <a:p>
          <a:endParaRPr lang="en-US"/>
        </a:p>
      </dgm:t>
    </dgm:pt>
    <dgm:pt modelId="{C8AEA265-245D-45CD-9F81-75D5A42EF57F}" type="sibTrans" cxnId="{E8F5BDD0-F854-4874-A8B6-55EF6D5E5389}">
      <dgm:prSet/>
      <dgm:spPr/>
      <dgm:t>
        <a:bodyPr/>
        <a:lstStyle/>
        <a:p>
          <a:endParaRPr lang="en-US"/>
        </a:p>
      </dgm:t>
    </dgm:pt>
    <dgm:pt modelId="{6A79417B-C47F-45AF-A17F-F39833271594}">
      <dgm:prSet/>
      <dgm:spPr/>
      <dgm:t>
        <a:bodyPr/>
        <a:lstStyle/>
        <a:p>
          <a:r>
            <a:rPr lang="en-US" dirty="0"/>
            <a:t>• PIT a </a:t>
          </a:r>
          <a:r>
            <a:rPr lang="en-US" dirty="0" err="1"/>
            <a:t>alterat</a:t>
          </a:r>
          <a:r>
            <a:rPr lang="en-US" dirty="0"/>
            <a:t> </a:t>
          </a:r>
          <a:r>
            <a:rPr lang="en-US" dirty="0" err="1"/>
            <a:t>mecanic</a:t>
          </a:r>
          <a:r>
            <a:rPr lang="en-US" dirty="0"/>
            <a:t> bytecode-ul java (</a:t>
          </a:r>
          <a:r>
            <a:rPr lang="en-US" dirty="0" err="1"/>
            <a:t>generand</a:t>
          </a:r>
          <a:r>
            <a:rPr lang="en-US" dirty="0"/>
            <a:t> artificial </a:t>
          </a:r>
          <a:r>
            <a:rPr lang="en-US" dirty="0" err="1"/>
            <a:t>zeci</a:t>
          </a:r>
          <a:r>
            <a:rPr lang="en-US" dirty="0"/>
            <a:t> de </a:t>
          </a:r>
          <a:r>
            <a:rPr lang="en-US" dirty="0" err="1"/>
            <a:t>asa</a:t>
          </a:r>
          <a:r>
            <a:rPr lang="en-US" dirty="0"/>
            <a:t> </a:t>
          </a:r>
          <a:r>
            <a:rPr lang="en-US" dirty="0" err="1"/>
            <a:t>numiti</a:t>
          </a:r>
          <a:r>
            <a:rPr lang="en-US" dirty="0"/>
            <a:t> "</a:t>
          </a:r>
          <a:r>
            <a:rPr lang="en-US" dirty="0" err="1"/>
            <a:t>mutanti</a:t>
          </a:r>
          <a:r>
            <a:rPr lang="en-US" dirty="0"/>
            <a:t>" </a:t>
          </a:r>
          <a:r>
            <a:rPr lang="en-US" dirty="0" err="1"/>
            <a:t>ascunsi</a:t>
          </a:r>
          <a:r>
            <a:rPr lang="en-US" dirty="0"/>
            <a:t>: </a:t>
          </a:r>
          <a:r>
            <a:rPr lang="en-US" dirty="0" err="1"/>
            <a:t>inversari</a:t>
          </a:r>
          <a:r>
            <a:rPr lang="en-US" dirty="0"/>
            <a:t> </a:t>
          </a:r>
          <a:r>
            <a:rPr lang="en-US" dirty="0" err="1"/>
            <a:t>logice</a:t>
          </a:r>
          <a:r>
            <a:rPr lang="en-US" dirty="0"/>
            <a:t> </a:t>
          </a:r>
          <a:r>
            <a:rPr lang="en-US" dirty="0" err="1"/>
            <a:t>sau</a:t>
          </a:r>
          <a:r>
            <a:rPr lang="en-US" dirty="0"/>
            <a:t> </a:t>
          </a:r>
          <a:r>
            <a:rPr lang="en-US" dirty="0" err="1"/>
            <a:t>numere</a:t>
          </a:r>
          <a:r>
            <a:rPr lang="en-US" dirty="0"/>
            <a:t> </a:t>
          </a:r>
          <a:r>
            <a:rPr lang="en-US" dirty="0" err="1"/>
            <a:t>modificate</a:t>
          </a:r>
          <a:r>
            <a:rPr lang="en-US" dirty="0"/>
            <a:t>).</a:t>
          </a:r>
        </a:p>
      </dgm:t>
    </dgm:pt>
    <dgm:pt modelId="{BB4805B3-DB73-47F6-9B78-48FAEDB8999C}" type="parTrans" cxnId="{D398FC63-3218-46FD-BD92-BAD3F8A7BB25}">
      <dgm:prSet/>
      <dgm:spPr/>
      <dgm:t>
        <a:bodyPr/>
        <a:lstStyle/>
        <a:p>
          <a:endParaRPr lang="en-US"/>
        </a:p>
      </dgm:t>
    </dgm:pt>
    <dgm:pt modelId="{A3EA7D50-163A-4099-B0C7-D4067C0055EF}" type="sibTrans" cxnId="{D398FC63-3218-46FD-BD92-BAD3F8A7BB25}">
      <dgm:prSet/>
      <dgm:spPr/>
      <dgm:t>
        <a:bodyPr/>
        <a:lstStyle/>
        <a:p>
          <a:endParaRPr lang="en-US"/>
        </a:p>
      </dgm:t>
    </dgm:pt>
    <dgm:pt modelId="{11A72EFA-2139-42EB-975A-E241C316E47C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Apoi</a:t>
          </a:r>
          <a:r>
            <a:rPr lang="en-US" dirty="0"/>
            <a:t> au </a:t>
          </a:r>
          <a:r>
            <a:rPr lang="en-US" dirty="0" err="1"/>
            <a:t>fost</a:t>
          </a:r>
          <a:r>
            <a:rPr lang="en-US" dirty="0"/>
            <a:t> </a:t>
          </a:r>
          <a:r>
            <a:rPr lang="en-US" dirty="0" err="1"/>
            <a:t>rulate</a:t>
          </a:r>
          <a:r>
            <a:rPr lang="en-US" dirty="0"/>
            <a:t> </a:t>
          </a:r>
          <a:r>
            <a:rPr lang="en-US" dirty="0" err="1"/>
            <a:t>cele</a:t>
          </a:r>
          <a:r>
            <a:rPr lang="en-US" dirty="0"/>
            <a:t> 88 de teste </a:t>
          </a:r>
          <a:r>
            <a:rPr lang="en-US" dirty="0" err="1"/>
            <a:t>scrise</a:t>
          </a:r>
          <a:r>
            <a:rPr lang="en-US" dirty="0"/>
            <a:t> </a:t>
          </a:r>
          <a:r>
            <a:rPr lang="en-US" dirty="0" err="1"/>
            <a:t>chiar</a:t>
          </a:r>
          <a:r>
            <a:rPr lang="en-US" dirty="0"/>
            <a:t> de </a:t>
          </a:r>
          <a:r>
            <a:rPr lang="en-US" dirty="0" err="1"/>
            <a:t>noi</a:t>
          </a:r>
          <a:r>
            <a:rPr lang="en-US" dirty="0"/>
            <a:t> </a:t>
          </a:r>
          <a:r>
            <a:rPr lang="en-US" dirty="0" err="1"/>
            <a:t>deasupra</a:t>
          </a:r>
          <a:r>
            <a:rPr lang="en-US" dirty="0"/>
            <a:t> </a:t>
          </a:r>
          <a:r>
            <a:rPr lang="en-US" dirty="0" err="1"/>
            <a:t>codului</a:t>
          </a:r>
          <a:r>
            <a:rPr lang="en-US" dirty="0"/>
            <a:t> </a:t>
          </a:r>
          <a:r>
            <a:rPr lang="en-US" dirty="0" err="1"/>
            <a:t>acum</a:t>
          </a:r>
          <a:r>
            <a:rPr lang="en-US" dirty="0"/>
            <a:t> </a:t>
          </a:r>
          <a:r>
            <a:rPr lang="en-US" dirty="0" err="1"/>
            <a:t>stricat</a:t>
          </a:r>
          <a:r>
            <a:rPr lang="en-US" dirty="0"/>
            <a:t>.</a:t>
          </a:r>
        </a:p>
      </dgm:t>
    </dgm:pt>
    <dgm:pt modelId="{5757BEF4-BFFD-45C9-ACC7-8F44137AEE1F}" type="parTrans" cxnId="{812F769E-8F8D-4AAE-AECF-60E7A1229630}">
      <dgm:prSet/>
      <dgm:spPr/>
      <dgm:t>
        <a:bodyPr/>
        <a:lstStyle/>
        <a:p>
          <a:endParaRPr lang="en-US"/>
        </a:p>
      </dgm:t>
    </dgm:pt>
    <dgm:pt modelId="{E870F433-447D-4500-A748-C4AD02F296B5}" type="sibTrans" cxnId="{812F769E-8F8D-4AAE-AECF-60E7A1229630}">
      <dgm:prSet/>
      <dgm:spPr/>
      <dgm:t>
        <a:bodyPr/>
        <a:lstStyle/>
        <a:p>
          <a:endParaRPr lang="en-US"/>
        </a:p>
      </dgm:t>
    </dgm:pt>
    <dgm:pt modelId="{DF93A97B-B015-4BA3-9F58-978C953DD228}" type="pres">
      <dgm:prSet presAssocID="{2D987E7C-EB72-45B0-9810-FD553DE3DDE4}" presName="outerComposite" presStyleCnt="0">
        <dgm:presLayoutVars>
          <dgm:chMax val="5"/>
          <dgm:dir/>
          <dgm:resizeHandles val="exact"/>
        </dgm:presLayoutVars>
      </dgm:prSet>
      <dgm:spPr/>
    </dgm:pt>
    <dgm:pt modelId="{B1A41343-897E-4EAC-8F28-ED9B9CE9A5A0}" type="pres">
      <dgm:prSet presAssocID="{2D987E7C-EB72-45B0-9810-FD553DE3DDE4}" presName="dummyMaxCanvas" presStyleCnt="0">
        <dgm:presLayoutVars/>
      </dgm:prSet>
      <dgm:spPr/>
    </dgm:pt>
    <dgm:pt modelId="{89BF014E-CB62-4203-9ED2-793AC9235820}" type="pres">
      <dgm:prSet presAssocID="{2D987E7C-EB72-45B0-9810-FD553DE3DDE4}" presName="ThreeNodes_1" presStyleLbl="node1" presStyleIdx="0" presStyleCnt="3">
        <dgm:presLayoutVars>
          <dgm:bulletEnabled val="1"/>
        </dgm:presLayoutVars>
      </dgm:prSet>
      <dgm:spPr/>
    </dgm:pt>
    <dgm:pt modelId="{4A8572B1-505C-4064-8C05-64803639654C}" type="pres">
      <dgm:prSet presAssocID="{2D987E7C-EB72-45B0-9810-FD553DE3DDE4}" presName="ThreeNodes_2" presStyleLbl="node1" presStyleIdx="1" presStyleCnt="3">
        <dgm:presLayoutVars>
          <dgm:bulletEnabled val="1"/>
        </dgm:presLayoutVars>
      </dgm:prSet>
      <dgm:spPr/>
    </dgm:pt>
    <dgm:pt modelId="{9D8BC5CA-CEB3-4265-9A5D-B6B04E106D93}" type="pres">
      <dgm:prSet presAssocID="{2D987E7C-EB72-45B0-9810-FD553DE3DDE4}" presName="ThreeNodes_3" presStyleLbl="node1" presStyleIdx="2" presStyleCnt="3">
        <dgm:presLayoutVars>
          <dgm:bulletEnabled val="1"/>
        </dgm:presLayoutVars>
      </dgm:prSet>
      <dgm:spPr/>
    </dgm:pt>
    <dgm:pt modelId="{DD828DE1-4372-42F0-A394-6AED778823DB}" type="pres">
      <dgm:prSet presAssocID="{2D987E7C-EB72-45B0-9810-FD553DE3DDE4}" presName="ThreeConn_1-2" presStyleLbl="fgAccFollowNode1" presStyleIdx="0" presStyleCnt="2">
        <dgm:presLayoutVars>
          <dgm:bulletEnabled val="1"/>
        </dgm:presLayoutVars>
      </dgm:prSet>
      <dgm:spPr/>
    </dgm:pt>
    <dgm:pt modelId="{F25EE913-C352-489C-BF01-F3FE4ACDD2A1}" type="pres">
      <dgm:prSet presAssocID="{2D987E7C-EB72-45B0-9810-FD553DE3DDE4}" presName="ThreeConn_2-3" presStyleLbl="fgAccFollowNode1" presStyleIdx="1" presStyleCnt="2">
        <dgm:presLayoutVars>
          <dgm:bulletEnabled val="1"/>
        </dgm:presLayoutVars>
      </dgm:prSet>
      <dgm:spPr/>
    </dgm:pt>
    <dgm:pt modelId="{332EC5D1-CA56-4C9F-9EF7-2041DA5C7DA0}" type="pres">
      <dgm:prSet presAssocID="{2D987E7C-EB72-45B0-9810-FD553DE3DDE4}" presName="ThreeNodes_1_text" presStyleLbl="node1" presStyleIdx="2" presStyleCnt="3">
        <dgm:presLayoutVars>
          <dgm:bulletEnabled val="1"/>
        </dgm:presLayoutVars>
      </dgm:prSet>
      <dgm:spPr/>
    </dgm:pt>
    <dgm:pt modelId="{87DF0B00-F735-46CF-92F6-62454D054E7E}" type="pres">
      <dgm:prSet presAssocID="{2D987E7C-EB72-45B0-9810-FD553DE3DDE4}" presName="ThreeNodes_2_text" presStyleLbl="node1" presStyleIdx="2" presStyleCnt="3">
        <dgm:presLayoutVars>
          <dgm:bulletEnabled val="1"/>
        </dgm:presLayoutVars>
      </dgm:prSet>
      <dgm:spPr/>
    </dgm:pt>
    <dgm:pt modelId="{4CF9E413-C4C4-4AC6-93F5-B4211F8F4108}" type="pres">
      <dgm:prSet presAssocID="{2D987E7C-EB72-45B0-9810-FD553DE3DDE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0128A02-EA3B-47A0-9189-F3EBD5103CEF}" type="presOf" srcId="{6A79417B-C47F-45AF-A17F-F39833271594}" destId="{4A8572B1-505C-4064-8C05-64803639654C}" srcOrd="0" destOrd="0" presId="urn:microsoft.com/office/officeart/2005/8/layout/vProcess5"/>
    <dgm:cxn modelId="{24547015-50F9-45E4-BF12-E3749AA564CD}" type="presOf" srcId="{E62A64A0-3C0C-46AC-8B3C-FA37420969B7}" destId="{89BF014E-CB62-4203-9ED2-793AC9235820}" srcOrd="0" destOrd="0" presId="urn:microsoft.com/office/officeart/2005/8/layout/vProcess5"/>
    <dgm:cxn modelId="{5897771A-F068-4B93-B7F1-F26ECF9F1B2D}" type="presOf" srcId="{E62A64A0-3C0C-46AC-8B3C-FA37420969B7}" destId="{332EC5D1-CA56-4C9F-9EF7-2041DA5C7DA0}" srcOrd="1" destOrd="0" presId="urn:microsoft.com/office/officeart/2005/8/layout/vProcess5"/>
    <dgm:cxn modelId="{2EF33824-7A72-4D15-961B-A4CE8D57C590}" type="presOf" srcId="{11A72EFA-2139-42EB-975A-E241C316E47C}" destId="{9D8BC5CA-CEB3-4265-9A5D-B6B04E106D93}" srcOrd="0" destOrd="0" presId="urn:microsoft.com/office/officeart/2005/8/layout/vProcess5"/>
    <dgm:cxn modelId="{3F5A9756-9B79-40A3-A8EB-1D36D1BDCA43}" type="presOf" srcId="{11A72EFA-2139-42EB-975A-E241C316E47C}" destId="{4CF9E413-C4C4-4AC6-93F5-B4211F8F4108}" srcOrd="1" destOrd="0" presId="urn:microsoft.com/office/officeart/2005/8/layout/vProcess5"/>
    <dgm:cxn modelId="{0DDF7562-1E09-4CCD-A92F-702CD7A6EA73}" type="presOf" srcId="{2D987E7C-EB72-45B0-9810-FD553DE3DDE4}" destId="{DF93A97B-B015-4BA3-9F58-978C953DD228}" srcOrd="0" destOrd="0" presId="urn:microsoft.com/office/officeart/2005/8/layout/vProcess5"/>
    <dgm:cxn modelId="{D398FC63-3218-46FD-BD92-BAD3F8A7BB25}" srcId="{2D987E7C-EB72-45B0-9810-FD553DE3DDE4}" destId="{6A79417B-C47F-45AF-A17F-F39833271594}" srcOrd="1" destOrd="0" parTransId="{BB4805B3-DB73-47F6-9B78-48FAEDB8999C}" sibTransId="{A3EA7D50-163A-4099-B0C7-D4067C0055EF}"/>
    <dgm:cxn modelId="{D069CD70-36D1-4CAE-B2BD-CEAF2798722F}" type="presOf" srcId="{A3EA7D50-163A-4099-B0C7-D4067C0055EF}" destId="{F25EE913-C352-489C-BF01-F3FE4ACDD2A1}" srcOrd="0" destOrd="0" presId="urn:microsoft.com/office/officeart/2005/8/layout/vProcess5"/>
    <dgm:cxn modelId="{A77A639B-4A33-4400-9FD6-157C81E3B456}" type="presOf" srcId="{C8AEA265-245D-45CD-9F81-75D5A42EF57F}" destId="{DD828DE1-4372-42F0-A394-6AED778823DB}" srcOrd="0" destOrd="0" presId="urn:microsoft.com/office/officeart/2005/8/layout/vProcess5"/>
    <dgm:cxn modelId="{812F769E-8F8D-4AAE-AECF-60E7A1229630}" srcId="{2D987E7C-EB72-45B0-9810-FD553DE3DDE4}" destId="{11A72EFA-2139-42EB-975A-E241C316E47C}" srcOrd="2" destOrd="0" parTransId="{5757BEF4-BFFD-45C9-ACC7-8F44137AEE1F}" sibTransId="{E870F433-447D-4500-A748-C4AD02F296B5}"/>
    <dgm:cxn modelId="{828FC6A1-9C93-4D1C-9AE7-3D176EBCBAC3}" type="presOf" srcId="{6A79417B-C47F-45AF-A17F-F39833271594}" destId="{87DF0B00-F735-46CF-92F6-62454D054E7E}" srcOrd="1" destOrd="0" presId="urn:microsoft.com/office/officeart/2005/8/layout/vProcess5"/>
    <dgm:cxn modelId="{E8F5BDD0-F854-4874-A8B6-55EF6D5E5389}" srcId="{2D987E7C-EB72-45B0-9810-FD553DE3DDE4}" destId="{E62A64A0-3C0C-46AC-8B3C-FA37420969B7}" srcOrd="0" destOrd="0" parTransId="{E874924C-2FAC-4A93-A284-3DC3CB5178E2}" sibTransId="{C8AEA265-245D-45CD-9F81-75D5A42EF57F}"/>
    <dgm:cxn modelId="{748E8F45-1621-416D-B43C-5C18B4164508}" type="presParOf" srcId="{DF93A97B-B015-4BA3-9F58-978C953DD228}" destId="{B1A41343-897E-4EAC-8F28-ED9B9CE9A5A0}" srcOrd="0" destOrd="0" presId="urn:microsoft.com/office/officeart/2005/8/layout/vProcess5"/>
    <dgm:cxn modelId="{CB702FAF-12B0-4BDF-9359-3AE887258F61}" type="presParOf" srcId="{DF93A97B-B015-4BA3-9F58-978C953DD228}" destId="{89BF014E-CB62-4203-9ED2-793AC9235820}" srcOrd="1" destOrd="0" presId="urn:microsoft.com/office/officeart/2005/8/layout/vProcess5"/>
    <dgm:cxn modelId="{C1C390C0-FEC9-4A79-B089-C5A55620A443}" type="presParOf" srcId="{DF93A97B-B015-4BA3-9F58-978C953DD228}" destId="{4A8572B1-505C-4064-8C05-64803639654C}" srcOrd="2" destOrd="0" presId="urn:microsoft.com/office/officeart/2005/8/layout/vProcess5"/>
    <dgm:cxn modelId="{14BC4E2A-CF94-440C-B9C5-CAEA1586FABF}" type="presParOf" srcId="{DF93A97B-B015-4BA3-9F58-978C953DD228}" destId="{9D8BC5CA-CEB3-4265-9A5D-B6B04E106D93}" srcOrd="3" destOrd="0" presId="urn:microsoft.com/office/officeart/2005/8/layout/vProcess5"/>
    <dgm:cxn modelId="{C574C179-4D2F-482E-8674-7C3FF1E71064}" type="presParOf" srcId="{DF93A97B-B015-4BA3-9F58-978C953DD228}" destId="{DD828DE1-4372-42F0-A394-6AED778823DB}" srcOrd="4" destOrd="0" presId="urn:microsoft.com/office/officeart/2005/8/layout/vProcess5"/>
    <dgm:cxn modelId="{D0C48D17-2AAF-428B-9D2A-B9D7D431D7A5}" type="presParOf" srcId="{DF93A97B-B015-4BA3-9F58-978C953DD228}" destId="{F25EE913-C352-489C-BF01-F3FE4ACDD2A1}" srcOrd="5" destOrd="0" presId="urn:microsoft.com/office/officeart/2005/8/layout/vProcess5"/>
    <dgm:cxn modelId="{261A7526-11A6-47C3-AD70-09DF250A1F35}" type="presParOf" srcId="{DF93A97B-B015-4BA3-9F58-978C953DD228}" destId="{332EC5D1-CA56-4C9F-9EF7-2041DA5C7DA0}" srcOrd="6" destOrd="0" presId="urn:microsoft.com/office/officeart/2005/8/layout/vProcess5"/>
    <dgm:cxn modelId="{3E17FBAF-27DB-473E-9836-2A4DC2B59534}" type="presParOf" srcId="{DF93A97B-B015-4BA3-9F58-978C953DD228}" destId="{87DF0B00-F735-46CF-92F6-62454D054E7E}" srcOrd="7" destOrd="0" presId="urn:microsoft.com/office/officeart/2005/8/layout/vProcess5"/>
    <dgm:cxn modelId="{A7B97D96-889E-43F3-97D6-BCEAB1929AD4}" type="presParOf" srcId="{DF93A97B-B015-4BA3-9F58-978C953DD228}" destId="{4CF9E413-C4C4-4AC6-93F5-B4211F8F410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616AE-781F-40F5-8E4C-2495DBC2BB85}">
      <dsp:nvSpPr>
        <dsp:cNvPr id="0" name=""/>
        <dsp:cNvSpPr/>
      </dsp:nvSpPr>
      <dsp:spPr>
        <a:xfrm>
          <a:off x="0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4CC86-E784-4B08-9415-A4948D1415D4}">
      <dsp:nvSpPr>
        <dsp:cNvPr id="0" name=""/>
        <dsp:cNvSpPr/>
      </dsp:nvSpPr>
      <dsp:spPr>
        <a:xfrm>
          <a:off x="300037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Ne-am </a:t>
          </a:r>
          <a:r>
            <a:rPr lang="en-US" sz="1600" b="0" i="0" kern="1200" dirty="0" err="1"/>
            <a:t>concentrat</a:t>
          </a:r>
          <a:r>
            <a:rPr lang="en-US" sz="1600" b="0" i="0" kern="1200" dirty="0"/>
            <a:t> pe </a:t>
          </a:r>
          <a:r>
            <a:rPr lang="en-US" sz="1600" b="0" i="0" kern="1200" dirty="0" err="1"/>
            <a:t>deciziile</a:t>
          </a:r>
          <a:r>
            <a:rPr lang="en-US" sz="1600" b="0" i="0" kern="1200" dirty="0"/>
            <a:t> </a:t>
          </a:r>
          <a:r>
            <a:rPr lang="en-US" sz="1600" b="0" i="0" kern="1200" dirty="0" err="1"/>
            <a:t>compuse</a:t>
          </a:r>
          <a:r>
            <a:rPr lang="en-US" sz="1600" b="0" i="0" kern="1200" dirty="0"/>
            <a:t> (</a:t>
          </a:r>
          <a:r>
            <a:rPr lang="en-US" sz="1600" b="0" i="0" kern="1200" dirty="0" err="1"/>
            <a:t>cele</a:t>
          </a:r>
          <a:r>
            <a:rPr lang="en-US" sz="1600" b="0" i="0" kern="1200" dirty="0"/>
            <a:t> cu OR || </a:t>
          </a:r>
          <a:r>
            <a:rPr lang="en-US" sz="1600" b="0" i="0" kern="1200" dirty="0" err="1"/>
            <a:t>și</a:t>
          </a:r>
          <a:r>
            <a:rPr lang="en-US" sz="1600" b="0" i="0" kern="1200" dirty="0"/>
            <a:t> AND &amp;&amp;).</a:t>
          </a:r>
          <a:endParaRPr lang="en-US" sz="1600" kern="1200" dirty="0"/>
        </a:p>
      </dsp:txBody>
      <dsp:txXfrm>
        <a:off x="350259" y="1126082"/>
        <a:ext cx="2599893" cy="1614270"/>
      </dsp:txXfrm>
    </dsp:sp>
    <dsp:sp modelId="{245ED043-F0CE-4D01-8E1F-04E751DC6EAA}">
      <dsp:nvSpPr>
        <dsp:cNvPr id="0" name=""/>
        <dsp:cNvSpPr/>
      </dsp:nvSpPr>
      <dsp:spPr>
        <a:xfrm>
          <a:off x="3300412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0DECB-D632-4652-BB39-02A73B92AFD8}">
      <dsp:nvSpPr>
        <dsp:cNvPr id="0" name=""/>
        <dsp:cNvSpPr/>
      </dsp:nvSpPr>
      <dsp:spPr>
        <a:xfrm>
          <a:off x="3600449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Am </a:t>
          </a:r>
          <a:r>
            <a:rPr lang="en-US" sz="1600" b="0" i="0" kern="1200" dirty="0" err="1"/>
            <a:t>izolat</a:t>
          </a:r>
          <a:r>
            <a:rPr lang="en-US" sz="1600" b="0" i="0" kern="1200" dirty="0"/>
            <a:t> </a:t>
          </a:r>
          <a:r>
            <a:rPr lang="en-US" sz="1600" b="0" i="0" kern="1200" dirty="0" err="1"/>
            <a:t>fiecare</a:t>
          </a:r>
          <a:r>
            <a:rPr lang="en-US" sz="1600" b="0" i="0" kern="1200" dirty="0"/>
            <a:t> sub-</a:t>
          </a:r>
          <a:r>
            <a:rPr lang="en-US" sz="1600" b="0" i="0" kern="1200" dirty="0" err="1"/>
            <a:t>condiție</a:t>
          </a:r>
          <a:r>
            <a:rPr lang="en-US" sz="1600" b="0" i="0" kern="1200" dirty="0"/>
            <a:t> </a:t>
          </a:r>
          <a:r>
            <a:rPr lang="en-US" sz="1600" b="0" i="0" kern="1200" dirty="0" err="1"/>
            <a:t>pentru</a:t>
          </a:r>
          <a:r>
            <a:rPr lang="en-US" sz="1600" b="0" i="0" kern="1200" dirty="0"/>
            <a:t> a </a:t>
          </a:r>
          <a:r>
            <a:rPr lang="en-US" sz="1600" b="0" i="0" kern="1200" dirty="0" err="1"/>
            <a:t>demonstra</a:t>
          </a:r>
          <a:r>
            <a:rPr lang="en-US" sz="1600" b="0" i="0" kern="1200" dirty="0"/>
            <a:t> </a:t>
          </a:r>
          <a:r>
            <a:rPr lang="en-US" sz="1600" b="0" i="0" kern="1200" dirty="0" err="1"/>
            <a:t>că</a:t>
          </a:r>
          <a:r>
            <a:rPr lang="en-US" sz="1600" b="0" i="0" kern="1200" dirty="0"/>
            <a:t> are o </a:t>
          </a:r>
          <a:r>
            <a:rPr lang="en-US" sz="1600" b="0" i="0" kern="1200" dirty="0" err="1"/>
            <a:t>influență</a:t>
          </a:r>
          <a:r>
            <a:rPr lang="en-US" sz="1600" b="0" i="0" kern="1200" dirty="0"/>
            <a:t> </a:t>
          </a:r>
          <a:r>
            <a:rPr lang="en-US" sz="1600" b="0" i="0" kern="1200" dirty="0" err="1"/>
            <a:t>reală</a:t>
          </a:r>
          <a:r>
            <a:rPr lang="en-US" sz="1600" b="0" i="0" kern="1200" dirty="0"/>
            <a:t>, de sine </a:t>
          </a:r>
          <a:r>
            <a:rPr lang="en-US" sz="1600" b="0" i="0" kern="1200" dirty="0" err="1"/>
            <a:t>stătătoare</a:t>
          </a:r>
          <a:r>
            <a:rPr lang="en-US" sz="1600" b="0" i="0" kern="1200" dirty="0"/>
            <a:t>, </a:t>
          </a:r>
          <a:r>
            <a:rPr lang="en-US" sz="1600" b="0" i="0" kern="1200" dirty="0" err="1"/>
            <a:t>asupra</a:t>
          </a:r>
          <a:r>
            <a:rPr lang="en-US" sz="1600" b="0" i="0" kern="1200" dirty="0"/>
            <a:t> </a:t>
          </a:r>
          <a:r>
            <a:rPr lang="en-US" sz="1600" b="0" i="0" kern="1200" dirty="0" err="1"/>
            <a:t>deciziei</a:t>
          </a:r>
          <a:r>
            <a:rPr lang="en-US" sz="1600" b="0" i="0" kern="1200" dirty="0"/>
            <a:t>.</a:t>
          </a:r>
          <a:endParaRPr lang="en-US" sz="1600" kern="1200" dirty="0"/>
        </a:p>
      </dsp:txBody>
      <dsp:txXfrm>
        <a:off x="3650671" y="1126082"/>
        <a:ext cx="2599893" cy="1614270"/>
      </dsp:txXfrm>
    </dsp:sp>
    <dsp:sp modelId="{C947015B-A415-430B-A497-27947E05E158}">
      <dsp:nvSpPr>
        <dsp:cNvPr id="0" name=""/>
        <dsp:cNvSpPr/>
      </dsp:nvSpPr>
      <dsp:spPr>
        <a:xfrm>
          <a:off x="6600824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5D555-EE79-4A32-8DDD-56A6A3C71081}">
      <dsp:nvSpPr>
        <dsp:cNvPr id="0" name=""/>
        <dsp:cNvSpPr/>
      </dsp:nvSpPr>
      <dsp:spPr>
        <a:xfrm>
          <a:off x="6900862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Ex: </a:t>
          </a:r>
          <a:r>
            <a:rPr lang="en-US" sz="1600" b="0" i="0" kern="1200" dirty="0" err="1"/>
            <a:t>Pentru</a:t>
          </a:r>
          <a:r>
            <a:rPr lang="en-US" sz="1600" b="0" i="0" kern="1200" dirty="0"/>
            <a:t> </a:t>
          </a:r>
          <a:r>
            <a:rPr lang="en-US" sz="1600" b="0" i="0" kern="1200" dirty="0" err="1"/>
            <a:t>decizia</a:t>
          </a:r>
          <a:r>
            <a:rPr lang="en-US" sz="1600" b="0" i="0" kern="1200" dirty="0"/>
            <a:t> de </a:t>
          </a:r>
          <a:r>
            <a:rPr lang="en-US" sz="1600" b="0" i="0" kern="1200" dirty="0" err="1"/>
            <a:t>validare</a:t>
          </a:r>
          <a:r>
            <a:rPr lang="en-US" sz="1600" b="0" i="0" kern="1200" dirty="0"/>
            <a:t> (score &lt; 0 || score &gt; 100), am </a:t>
          </a:r>
          <a:r>
            <a:rPr lang="en-US" sz="1600" b="0" i="0" kern="1200" dirty="0" err="1"/>
            <a:t>testat</a:t>
          </a:r>
          <a:r>
            <a:rPr lang="en-US" sz="1600" b="0" i="0" kern="1200" dirty="0"/>
            <a:t> </a:t>
          </a:r>
          <a:r>
            <a:rPr lang="en-US" sz="1600" b="0" i="0" kern="1200" dirty="0" err="1"/>
            <a:t>modificarea</a:t>
          </a:r>
          <a:r>
            <a:rPr lang="en-US" sz="1600" b="0" i="0" kern="1200" dirty="0"/>
            <a:t> </a:t>
          </a:r>
          <a:r>
            <a:rPr lang="en-US" sz="1600" b="0" i="0" kern="1200" dirty="0" err="1"/>
            <a:t>doar</a:t>
          </a:r>
          <a:r>
            <a:rPr lang="en-US" sz="1600" b="0" i="0" kern="1200" dirty="0"/>
            <a:t> a </a:t>
          </a:r>
          <a:r>
            <a:rPr lang="en-US" sz="1600" b="0" i="0" kern="1200" dirty="0" err="1"/>
            <a:t>unei</a:t>
          </a:r>
          <a:r>
            <a:rPr lang="en-US" sz="1600" b="0" i="0" kern="1200" dirty="0"/>
            <a:t> </a:t>
          </a:r>
          <a:r>
            <a:rPr lang="en-US" sz="1600" b="0" i="0" kern="1200" dirty="0" err="1"/>
            <a:t>părți</a:t>
          </a:r>
          <a:r>
            <a:rPr lang="en-US" sz="1600" b="0" i="0" kern="1200" dirty="0"/>
            <a:t> din </a:t>
          </a:r>
          <a:r>
            <a:rPr lang="en-US" sz="1600" b="0" i="0" kern="1200" dirty="0" err="1"/>
            <a:t>ecuație</a:t>
          </a:r>
          <a:r>
            <a:rPr lang="en-US" sz="1600" b="0" i="0" kern="1200" dirty="0"/>
            <a:t>, </a:t>
          </a:r>
          <a:r>
            <a:rPr lang="en-US" sz="1600" b="0" i="0" kern="1200" dirty="0" err="1"/>
            <a:t>demonstrând</a:t>
          </a:r>
          <a:r>
            <a:rPr lang="en-US" sz="1600" b="0" i="0" kern="1200" dirty="0"/>
            <a:t> </a:t>
          </a:r>
          <a:r>
            <a:rPr lang="en-US" sz="1600" b="0" i="0" kern="1200" dirty="0" err="1"/>
            <a:t>că</a:t>
          </a:r>
          <a:r>
            <a:rPr lang="en-US" sz="1600" b="0" i="0" kern="1200" dirty="0"/>
            <a:t> </a:t>
          </a:r>
          <a:r>
            <a:rPr lang="en-US" sz="1600" b="0" i="0" kern="1200" dirty="0" err="1"/>
            <a:t>prinde</a:t>
          </a:r>
          <a:r>
            <a:rPr lang="en-US" sz="1600" b="0" i="0" kern="1200" dirty="0"/>
            <a:t> </a:t>
          </a:r>
          <a:r>
            <a:rPr lang="en-US" sz="1600" b="0" i="0" kern="1200" dirty="0" err="1"/>
            <a:t>eroarea</a:t>
          </a:r>
          <a:r>
            <a:rPr lang="en-US" sz="1600" b="0" i="0" kern="1200" dirty="0"/>
            <a:t> </a:t>
          </a:r>
          <a:r>
            <a:rPr lang="en-US" sz="1600" b="0" i="0" kern="1200" dirty="0" err="1"/>
            <a:t>corect</a:t>
          </a:r>
          <a:r>
            <a:rPr lang="en-US" sz="1600" b="0" i="0" kern="1200" dirty="0"/>
            <a:t> la extreme.</a:t>
          </a:r>
          <a:endParaRPr lang="en-US" sz="1600" kern="1200" dirty="0"/>
        </a:p>
      </dsp:txBody>
      <dsp:txXfrm>
        <a:off x="6951084" y="1126082"/>
        <a:ext cx="2599893" cy="1614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F014E-CB62-4203-9ED2-793AC9235820}">
      <dsp:nvSpPr>
        <dsp:cNvPr id="0" name=""/>
        <dsp:cNvSpPr/>
      </dsp:nvSpPr>
      <dsp:spPr>
        <a:xfrm>
          <a:off x="0" y="0"/>
          <a:ext cx="8454147" cy="10744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Scop: </a:t>
          </a:r>
          <a:r>
            <a:rPr lang="en-US" sz="2100" kern="1200" dirty="0" err="1"/>
            <a:t>Verificarea</a:t>
          </a:r>
          <a:r>
            <a:rPr lang="en-US" sz="2100" kern="1200" dirty="0"/>
            <a:t> </a:t>
          </a:r>
          <a:r>
            <a:rPr lang="en-US" sz="2100" kern="1200" dirty="0" err="1"/>
            <a:t>barierelor</a:t>
          </a:r>
          <a:r>
            <a:rPr lang="en-US" sz="2100" kern="1200" dirty="0"/>
            <a:t> de </a:t>
          </a:r>
          <a:r>
            <a:rPr lang="en-US" sz="2100" kern="1200" dirty="0" err="1"/>
            <a:t>protecție</a:t>
          </a:r>
          <a:r>
            <a:rPr lang="en-US" sz="2100" kern="1200" dirty="0"/>
            <a:t> a </a:t>
          </a:r>
          <a:r>
            <a:rPr lang="en-US" sz="2100" kern="1200" dirty="0" err="1"/>
            <a:t>testelor</a:t>
          </a:r>
          <a:r>
            <a:rPr lang="en-US" sz="2100" kern="1200" dirty="0"/>
            <a:t>. A </a:t>
          </a:r>
          <a:r>
            <a:rPr lang="en-US" sz="2100" kern="1200" dirty="0" err="1"/>
            <a:t>fost</a:t>
          </a:r>
          <a:r>
            <a:rPr lang="en-US" sz="2100" kern="1200" dirty="0"/>
            <a:t> </a:t>
          </a:r>
          <a:r>
            <a:rPr lang="en-US" sz="2100" kern="1200" dirty="0" err="1"/>
            <a:t>rulat</a:t>
          </a:r>
          <a:r>
            <a:rPr lang="en-US" sz="2100" kern="1200" dirty="0"/>
            <a:t> </a:t>
          </a:r>
          <a:r>
            <a:rPr lang="en-US" sz="2100" kern="1200" dirty="0" err="1"/>
            <a:t>pluginul</a:t>
          </a:r>
          <a:r>
            <a:rPr lang="en-US" sz="2100" kern="1200" dirty="0"/>
            <a:t> de </a:t>
          </a:r>
          <a:r>
            <a:rPr lang="en-US" sz="2100" kern="1200" dirty="0" err="1"/>
            <a:t>injectie</a:t>
          </a:r>
          <a:r>
            <a:rPr lang="en-US" sz="2100" kern="1200" dirty="0"/>
            <a:t> PIT.</a:t>
          </a:r>
        </a:p>
      </dsp:txBody>
      <dsp:txXfrm>
        <a:off x="31469" y="31469"/>
        <a:ext cx="7294763" cy="1011482"/>
      </dsp:txXfrm>
    </dsp:sp>
    <dsp:sp modelId="{4A8572B1-505C-4064-8C05-64803639654C}">
      <dsp:nvSpPr>
        <dsp:cNvPr id="0" name=""/>
        <dsp:cNvSpPr/>
      </dsp:nvSpPr>
      <dsp:spPr>
        <a:xfrm>
          <a:off x="745954" y="1253489"/>
          <a:ext cx="8454147" cy="10744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PIT a </a:t>
          </a:r>
          <a:r>
            <a:rPr lang="en-US" sz="2100" kern="1200" dirty="0" err="1"/>
            <a:t>alterat</a:t>
          </a:r>
          <a:r>
            <a:rPr lang="en-US" sz="2100" kern="1200" dirty="0"/>
            <a:t> </a:t>
          </a:r>
          <a:r>
            <a:rPr lang="en-US" sz="2100" kern="1200" dirty="0" err="1"/>
            <a:t>mecanic</a:t>
          </a:r>
          <a:r>
            <a:rPr lang="en-US" sz="2100" kern="1200" dirty="0"/>
            <a:t> bytecode-ul java (</a:t>
          </a:r>
          <a:r>
            <a:rPr lang="en-US" sz="2100" kern="1200" dirty="0" err="1"/>
            <a:t>generand</a:t>
          </a:r>
          <a:r>
            <a:rPr lang="en-US" sz="2100" kern="1200" dirty="0"/>
            <a:t> artificial </a:t>
          </a:r>
          <a:r>
            <a:rPr lang="en-US" sz="2100" kern="1200" dirty="0" err="1"/>
            <a:t>zeci</a:t>
          </a:r>
          <a:r>
            <a:rPr lang="en-US" sz="2100" kern="1200" dirty="0"/>
            <a:t> de </a:t>
          </a:r>
          <a:r>
            <a:rPr lang="en-US" sz="2100" kern="1200" dirty="0" err="1"/>
            <a:t>asa</a:t>
          </a:r>
          <a:r>
            <a:rPr lang="en-US" sz="2100" kern="1200" dirty="0"/>
            <a:t> </a:t>
          </a:r>
          <a:r>
            <a:rPr lang="en-US" sz="2100" kern="1200" dirty="0" err="1"/>
            <a:t>numiti</a:t>
          </a:r>
          <a:r>
            <a:rPr lang="en-US" sz="2100" kern="1200" dirty="0"/>
            <a:t> "</a:t>
          </a:r>
          <a:r>
            <a:rPr lang="en-US" sz="2100" kern="1200" dirty="0" err="1"/>
            <a:t>mutanti</a:t>
          </a:r>
          <a:r>
            <a:rPr lang="en-US" sz="2100" kern="1200" dirty="0"/>
            <a:t>" </a:t>
          </a:r>
          <a:r>
            <a:rPr lang="en-US" sz="2100" kern="1200" dirty="0" err="1"/>
            <a:t>ascunsi</a:t>
          </a:r>
          <a:r>
            <a:rPr lang="en-US" sz="2100" kern="1200" dirty="0"/>
            <a:t>: </a:t>
          </a:r>
          <a:r>
            <a:rPr lang="en-US" sz="2100" kern="1200" dirty="0" err="1"/>
            <a:t>inversari</a:t>
          </a:r>
          <a:r>
            <a:rPr lang="en-US" sz="2100" kern="1200" dirty="0"/>
            <a:t> </a:t>
          </a:r>
          <a:r>
            <a:rPr lang="en-US" sz="2100" kern="1200" dirty="0" err="1"/>
            <a:t>logice</a:t>
          </a:r>
          <a:r>
            <a:rPr lang="en-US" sz="2100" kern="1200" dirty="0"/>
            <a:t> </a:t>
          </a:r>
          <a:r>
            <a:rPr lang="en-US" sz="2100" kern="1200" dirty="0" err="1"/>
            <a:t>sau</a:t>
          </a:r>
          <a:r>
            <a:rPr lang="en-US" sz="2100" kern="1200" dirty="0"/>
            <a:t> </a:t>
          </a:r>
          <a:r>
            <a:rPr lang="en-US" sz="2100" kern="1200" dirty="0" err="1"/>
            <a:t>numere</a:t>
          </a:r>
          <a:r>
            <a:rPr lang="en-US" sz="2100" kern="1200" dirty="0"/>
            <a:t> </a:t>
          </a:r>
          <a:r>
            <a:rPr lang="en-US" sz="2100" kern="1200" dirty="0" err="1"/>
            <a:t>modificate</a:t>
          </a:r>
          <a:r>
            <a:rPr lang="en-US" sz="2100" kern="1200" dirty="0"/>
            <a:t>).</a:t>
          </a:r>
        </a:p>
      </dsp:txBody>
      <dsp:txXfrm>
        <a:off x="777423" y="1284958"/>
        <a:ext cx="6946882" cy="1011482"/>
      </dsp:txXfrm>
    </dsp:sp>
    <dsp:sp modelId="{9D8BC5CA-CEB3-4265-9A5D-B6B04E106D93}">
      <dsp:nvSpPr>
        <dsp:cNvPr id="0" name=""/>
        <dsp:cNvSpPr/>
      </dsp:nvSpPr>
      <dsp:spPr>
        <a:xfrm>
          <a:off x="1491908" y="2506979"/>
          <a:ext cx="8454147" cy="10744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</a:t>
          </a:r>
          <a:r>
            <a:rPr lang="en-US" sz="2100" kern="1200" dirty="0" err="1"/>
            <a:t>Apoi</a:t>
          </a:r>
          <a:r>
            <a:rPr lang="en-US" sz="2100" kern="1200" dirty="0"/>
            <a:t> au </a:t>
          </a:r>
          <a:r>
            <a:rPr lang="en-US" sz="2100" kern="1200" dirty="0" err="1"/>
            <a:t>fost</a:t>
          </a:r>
          <a:r>
            <a:rPr lang="en-US" sz="2100" kern="1200" dirty="0"/>
            <a:t> </a:t>
          </a:r>
          <a:r>
            <a:rPr lang="en-US" sz="2100" kern="1200" dirty="0" err="1"/>
            <a:t>rulate</a:t>
          </a:r>
          <a:r>
            <a:rPr lang="en-US" sz="2100" kern="1200" dirty="0"/>
            <a:t> </a:t>
          </a:r>
          <a:r>
            <a:rPr lang="en-US" sz="2100" kern="1200" dirty="0" err="1"/>
            <a:t>cele</a:t>
          </a:r>
          <a:r>
            <a:rPr lang="en-US" sz="2100" kern="1200" dirty="0"/>
            <a:t> 88 de teste </a:t>
          </a:r>
          <a:r>
            <a:rPr lang="en-US" sz="2100" kern="1200" dirty="0" err="1"/>
            <a:t>scrise</a:t>
          </a:r>
          <a:r>
            <a:rPr lang="en-US" sz="2100" kern="1200" dirty="0"/>
            <a:t> </a:t>
          </a:r>
          <a:r>
            <a:rPr lang="en-US" sz="2100" kern="1200" dirty="0" err="1"/>
            <a:t>chiar</a:t>
          </a:r>
          <a:r>
            <a:rPr lang="en-US" sz="2100" kern="1200" dirty="0"/>
            <a:t> de </a:t>
          </a:r>
          <a:r>
            <a:rPr lang="en-US" sz="2100" kern="1200" dirty="0" err="1"/>
            <a:t>noi</a:t>
          </a:r>
          <a:r>
            <a:rPr lang="en-US" sz="2100" kern="1200" dirty="0"/>
            <a:t> </a:t>
          </a:r>
          <a:r>
            <a:rPr lang="en-US" sz="2100" kern="1200" dirty="0" err="1"/>
            <a:t>deasupra</a:t>
          </a:r>
          <a:r>
            <a:rPr lang="en-US" sz="2100" kern="1200" dirty="0"/>
            <a:t> </a:t>
          </a:r>
          <a:r>
            <a:rPr lang="en-US" sz="2100" kern="1200" dirty="0" err="1"/>
            <a:t>codului</a:t>
          </a:r>
          <a:r>
            <a:rPr lang="en-US" sz="2100" kern="1200" dirty="0"/>
            <a:t> </a:t>
          </a:r>
          <a:r>
            <a:rPr lang="en-US" sz="2100" kern="1200" dirty="0" err="1"/>
            <a:t>acum</a:t>
          </a:r>
          <a:r>
            <a:rPr lang="en-US" sz="2100" kern="1200" dirty="0"/>
            <a:t> </a:t>
          </a:r>
          <a:r>
            <a:rPr lang="en-US" sz="2100" kern="1200" dirty="0" err="1"/>
            <a:t>stricat</a:t>
          </a:r>
          <a:r>
            <a:rPr lang="en-US" sz="2100" kern="1200" dirty="0"/>
            <a:t>.</a:t>
          </a:r>
        </a:p>
      </dsp:txBody>
      <dsp:txXfrm>
        <a:off x="1523377" y="2538448"/>
        <a:ext cx="6946882" cy="1011482"/>
      </dsp:txXfrm>
    </dsp:sp>
    <dsp:sp modelId="{DD828DE1-4372-42F0-A394-6AED778823DB}">
      <dsp:nvSpPr>
        <dsp:cNvPr id="0" name=""/>
        <dsp:cNvSpPr/>
      </dsp:nvSpPr>
      <dsp:spPr>
        <a:xfrm>
          <a:off x="7755774" y="814768"/>
          <a:ext cx="698373" cy="69837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912908" y="814768"/>
        <a:ext cx="384105" cy="525526"/>
      </dsp:txXfrm>
    </dsp:sp>
    <dsp:sp modelId="{F25EE913-C352-489C-BF01-F3FE4ACDD2A1}">
      <dsp:nvSpPr>
        <dsp:cNvPr id="0" name=""/>
        <dsp:cNvSpPr/>
      </dsp:nvSpPr>
      <dsp:spPr>
        <a:xfrm>
          <a:off x="8501728" y="2061095"/>
          <a:ext cx="698373" cy="69837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658862" y="2061095"/>
        <a:ext cx="384105" cy="525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7ABB4-8A70-9C91-054C-B74774633FE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5312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0907-21E7-4D43-B8B7-615CD7366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T3 -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Unitară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53410-271C-0048-B0C2-FE5028047E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tehnicilor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funcțională</a:t>
            </a:r>
            <a:r>
              <a:rPr lang="en-US" dirty="0"/>
              <a:t>, </a:t>
            </a:r>
            <a:r>
              <a:rPr lang="en-US" dirty="0" err="1"/>
              <a:t>structurală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bazată</a:t>
            </a:r>
            <a:r>
              <a:rPr lang="en-US" dirty="0"/>
              <a:t> pe </a:t>
            </a:r>
            <a:r>
              <a:rPr lang="en-US" dirty="0" err="1"/>
              <a:t>mutanți</a:t>
            </a:r>
            <a:endParaRPr lang="en-US" dirty="0"/>
          </a:p>
          <a:p>
            <a:r>
              <a:rPr lang="en-US" dirty="0"/>
              <a:t>Apostol Tudor – </a:t>
            </a:r>
            <a:r>
              <a:rPr lang="en-US" dirty="0" err="1"/>
              <a:t>Buscoveanu</a:t>
            </a:r>
            <a:r>
              <a:rPr lang="en-US" dirty="0"/>
              <a:t> Victor</a:t>
            </a:r>
          </a:p>
        </p:txBody>
      </p:sp>
    </p:spTree>
    <p:extLst>
      <p:ext uri="{BB962C8B-B14F-4D97-AF65-F5344CB8AC3E}">
        <p14:creationId xmlns:p14="http://schemas.microsoft.com/office/powerpoint/2010/main" val="238490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9ADA-E6A1-924D-A0EB-9D911365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Despre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proiect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și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dirty="0" err="1">
                <a:solidFill>
                  <a:srgbClr val="616161"/>
                </a:solidFill>
                <a:latin typeface="-apple-system"/>
              </a:rPr>
              <a:t>s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copul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nostru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1874-D2D0-EB4E-A08D-1C6D6FA5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Scop: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suite exhaustive de teste </a:t>
            </a:r>
            <a:r>
              <a:rPr lang="en-US" dirty="0" err="1"/>
              <a:t>unitare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garanteze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structurala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Strategii</a:t>
            </a:r>
            <a:r>
              <a:rPr lang="en-US" dirty="0"/>
              <a:t> </a:t>
            </a:r>
            <a:r>
              <a:rPr lang="en-US" dirty="0" err="1"/>
              <a:t>aplicate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Evaluare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Functionale</a:t>
            </a:r>
            <a:r>
              <a:rPr lang="en-US" dirty="0"/>
              <a:t> (Black-Box Testing)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Structurale</a:t>
            </a:r>
            <a:r>
              <a:rPr lang="en-US" dirty="0"/>
              <a:t> (White-Box) </a:t>
            </a:r>
            <a:r>
              <a:rPr lang="en-US" dirty="0" err="1"/>
              <a:t>inclusiv</a:t>
            </a:r>
            <a:r>
              <a:rPr lang="en-US" dirty="0"/>
              <a:t> schema MC/DC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Testelor</a:t>
            </a:r>
            <a:r>
              <a:rPr lang="en-US" dirty="0"/>
              <a:t> (Mutation Testing)</a:t>
            </a:r>
          </a:p>
        </p:txBody>
      </p:sp>
    </p:spTree>
    <p:extLst>
      <p:ext uri="{BB962C8B-B14F-4D97-AF65-F5344CB8AC3E}">
        <p14:creationId xmlns:p14="http://schemas.microsoft.com/office/powerpoint/2010/main" val="400796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FDA9-682B-D345-B4B6-7174D798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proiectului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E8BC-807D-1F4F-968A-3A8DF527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49973"/>
            <a:ext cx="9601200" cy="3581400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616161"/>
                </a:solidFill>
                <a:effectLst/>
                <a:latin typeface="-apple-system"/>
              </a:rPr>
              <a:t>Misiunea</a:t>
            </a:r>
            <a:r>
              <a:rPr lang="en-US" b="1" i="0" dirty="0">
                <a:solidFill>
                  <a:srgbClr val="616161"/>
                </a:solidFill>
                <a:effectLst/>
                <a:latin typeface="-apple-system"/>
              </a:rPr>
              <a:t>: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 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Validarea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unui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algoritm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matematic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care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transformă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un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scor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brut, un bonus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și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un credit extra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într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-o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notă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finală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(de la F la A+).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Ne-am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asigurat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prin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teste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că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logica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deciziile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și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rezultatele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returnate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sunt 100%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corecte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616161"/>
                </a:solidFill>
                <a:effectLst/>
                <a:latin typeface="-apple-system"/>
              </a:rPr>
              <a:t>Strategii</a:t>
            </a:r>
            <a:r>
              <a:rPr lang="en-US" b="1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616161"/>
                </a:solidFill>
                <a:effectLst/>
                <a:latin typeface="-apple-system"/>
              </a:rPr>
              <a:t>aplicate</a:t>
            </a:r>
            <a:r>
              <a:rPr lang="en-US" b="1" i="0" dirty="0">
                <a:solidFill>
                  <a:srgbClr val="616161"/>
                </a:solidFill>
                <a:effectLst/>
                <a:latin typeface="-apple-system"/>
              </a:rPr>
              <a:t>:</a:t>
            </a:r>
            <a:endParaRPr lang="en-US" b="0" i="0" dirty="0">
              <a:solidFill>
                <a:srgbClr val="61616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Testare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Funcțională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(Black-Box - din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specificații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Testare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Structurală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(White-Box - pe cod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sursă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Mutation Testing (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injectarea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 de </a:t>
            </a:r>
            <a:r>
              <a:rPr lang="en-US" b="0" i="0" dirty="0" err="1">
                <a:solidFill>
                  <a:srgbClr val="616161"/>
                </a:solidFill>
                <a:effectLst/>
                <a:latin typeface="-apple-system"/>
              </a:rPr>
              <a:t>defecte</a:t>
            </a:r>
            <a:r>
              <a:rPr lang="en-US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208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28ACF-5740-B445-ACF4-E75ED0BE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Functia Aleasa: Calculator de Note</a:t>
            </a:r>
            <a:br>
              <a:rPr lang="en-US" sz="3400"/>
            </a:br>
            <a:endParaRPr lang="en-US" sz="34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F88714-D339-4542-8783-F0F82DD76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3396"/>
          <a:stretch>
            <a:fillRect/>
          </a:stretch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86F6-5E44-F24E-9A83-3AAA3A179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00824" y="2286000"/>
            <a:ext cx="6176776" cy="35814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•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3 </a:t>
            </a:r>
            <a:r>
              <a:rPr lang="en-US" dirty="0" err="1"/>
              <a:t>parametri</a:t>
            </a:r>
            <a:r>
              <a:rPr lang="en-US" dirty="0"/>
              <a:t>: un score [int], un bonus [int]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extraCredit</a:t>
            </a:r>
            <a:r>
              <a:rPr lang="en-US" dirty="0"/>
              <a:t> [</a:t>
            </a:r>
            <a:r>
              <a:rPr lang="en-US" dirty="0" err="1"/>
              <a:t>boolean</a:t>
            </a:r>
            <a:r>
              <a:rPr lang="en-US" dirty="0"/>
              <a:t>].</a:t>
            </a:r>
          </a:p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•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respectate</a:t>
            </a:r>
            <a:r>
              <a:rPr lang="en-US" dirty="0"/>
              <a:t> in cod </a:t>
            </a:r>
            <a:r>
              <a:rPr lang="en-US" dirty="0" err="1"/>
              <a:t>constrangerile</a:t>
            </a:r>
            <a:r>
              <a:rPr lang="en-US" dirty="0"/>
              <a:t> </a:t>
            </a:r>
            <a:r>
              <a:rPr lang="en-US" dirty="0" err="1"/>
              <a:t>obligatorii</a:t>
            </a:r>
            <a:r>
              <a:rPr lang="en-US" dirty="0"/>
              <a:t>:</a:t>
            </a:r>
          </a:p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   - O </a:t>
            </a:r>
            <a:r>
              <a:rPr lang="en-US" dirty="0" err="1"/>
              <a:t>instructiune</a:t>
            </a:r>
            <a:r>
              <a:rPr lang="en-US" dirty="0"/>
              <a:t> </a:t>
            </a:r>
            <a:r>
              <a:rPr lang="en-US" dirty="0" err="1"/>
              <a:t>iterativa</a:t>
            </a:r>
            <a:r>
              <a:rPr lang="en-US" dirty="0"/>
              <a:t> (</a:t>
            </a:r>
            <a:r>
              <a:rPr lang="en-US" dirty="0" err="1"/>
              <a:t>bucla</a:t>
            </a:r>
            <a:r>
              <a:rPr lang="en-US" dirty="0"/>
              <a:t> 'for')</a:t>
            </a:r>
          </a:p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   - Un </a:t>
            </a:r>
            <a:r>
              <a:rPr lang="en-US" dirty="0" err="1"/>
              <a:t>decizional</a:t>
            </a:r>
            <a:r>
              <a:rPr lang="en-US" dirty="0"/>
              <a:t> cu IF / ELSE</a:t>
            </a:r>
          </a:p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   - Un </a:t>
            </a:r>
            <a:r>
              <a:rPr lang="en-US" dirty="0" err="1"/>
              <a:t>decizional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cu IF</a:t>
            </a:r>
          </a:p>
          <a:p>
            <a:pPr>
              <a:buFont typeface="Franklin Gothic Book" panose="020B0503020102020204" pitchFamily="34" charset="0"/>
              <a:buNone/>
            </a:pPr>
            <a:r>
              <a:rPr lang="en-US" dirty="0"/>
              <a:t>   - O </a:t>
            </a:r>
            <a:r>
              <a:rPr lang="en-US" dirty="0" err="1"/>
              <a:t>conditionala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 + o </a:t>
            </a:r>
            <a:r>
              <a:rPr lang="en-US" dirty="0" err="1"/>
              <a:t>conditionala</a:t>
            </a:r>
            <a:r>
              <a:rPr lang="en-US" dirty="0"/>
              <a:t> </a:t>
            </a:r>
            <a:r>
              <a:rPr lang="en-US" dirty="0" err="1"/>
              <a:t>compusa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99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2EA4F6-564D-47A5-A069-C56EB81E0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A123B-30CE-1740-9B64-14626592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Functionala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9872-11B0-774B-B22E-CD2268BC1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3" y="1329267"/>
            <a:ext cx="4461934" cy="4538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383540" indent="-383540">
              <a:buNone/>
            </a:pPr>
            <a:r>
              <a:rPr lang="en-US" sz="1400" b="1">
                <a:ea typeface="+mn-lt"/>
                <a:cs typeface="+mn-lt"/>
              </a:rPr>
              <a:t>Clase Individuale de Echivalență și Domeniul de Ieșiri</a:t>
            </a:r>
            <a:endParaRPr lang="en-US" sz="1400">
              <a:ea typeface="+mn-lt"/>
              <a:cs typeface="+mn-lt"/>
            </a:endParaRPr>
          </a:p>
          <a:p>
            <a:pPr marL="383540" indent="-383540">
              <a:buNone/>
            </a:pPr>
            <a:r>
              <a:rPr lang="en-US" sz="1400" b="1">
                <a:ea typeface="+mn-lt"/>
                <a:cs typeface="+mn-lt"/>
              </a:rPr>
              <a:t>Clase Individuale de Intrare:</a:t>
            </a:r>
          </a:p>
          <a:p>
            <a:pPr marL="383540" indent="-383540">
              <a:buFont typeface="Franklin Gothic Book"/>
              <a:buChar char="■"/>
            </a:pPr>
            <a:r>
              <a:rPr lang="en-US" sz="1400" b="1">
                <a:ea typeface="+mn-lt"/>
                <a:cs typeface="+mn-lt"/>
              </a:rPr>
              <a:t>Score:</a:t>
            </a:r>
            <a:r>
              <a:rPr lang="en-US" sz="1400">
                <a:ea typeface="+mn-lt"/>
                <a:cs typeface="+mn-lt"/>
              </a:rPr>
              <a:t> 3 clase distincte</a:t>
            </a: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S1 (Validă): Între 0 și 100 (inclusiv)</a:t>
            </a:r>
            <a:endParaRPr lang="en-US" sz="1400">
              <a:ea typeface="+mn-lt"/>
              <a:cs typeface="+mn-lt"/>
            </a:endParaRP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S2 (Invalidă): Mai mic de 0</a:t>
            </a:r>
            <a:endParaRPr lang="en-US" sz="1400">
              <a:ea typeface="+mn-lt"/>
              <a:cs typeface="+mn-lt"/>
            </a:endParaRP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S3 (Invalidă): Mai mare de 100</a:t>
            </a:r>
            <a:endParaRPr lang="en-US" sz="1400">
              <a:ea typeface="+mn-lt"/>
              <a:cs typeface="+mn-lt"/>
            </a:endParaRPr>
          </a:p>
          <a:p>
            <a:pPr marL="383540" indent="-383540">
              <a:buFont typeface="Franklin Gothic Book"/>
              <a:buChar char="■"/>
            </a:pPr>
            <a:r>
              <a:rPr lang="en-US" sz="1400" b="1">
                <a:ea typeface="+mn-lt"/>
                <a:cs typeface="+mn-lt"/>
              </a:rPr>
              <a:t>Bonus:</a:t>
            </a:r>
            <a:r>
              <a:rPr lang="en-US" sz="1400">
                <a:ea typeface="+mn-lt"/>
                <a:cs typeface="+mn-lt"/>
              </a:rPr>
              <a:t> 1 clasă</a:t>
            </a: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B1 (Validă): Orice număr întreg</a:t>
            </a:r>
            <a:endParaRPr lang="en-US" sz="1400">
              <a:ea typeface="+mn-lt"/>
              <a:cs typeface="+mn-lt"/>
            </a:endParaRPr>
          </a:p>
          <a:p>
            <a:pPr marL="383540" indent="-383540">
              <a:buFont typeface="Franklin Gothic Book"/>
              <a:buChar char="■"/>
            </a:pPr>
            <a:r>
              <a:rPr lang="en-US" sz="1400" b="1">
                <a:ea typeface="+mn-lt"/>
                <a:cs typeface="+mn-lt"/>
              </a:rPr>
              <a:t>ExtraCredit:</a:t>
            </a:r>
            <a:r>
              <a:rPr lang="en-US" sz="1400">
                <a:ea typeface="+mn-lt"/>
                <a:cs typeface="+mn-lt"/>
              </a:rPr>
              <a:t> 2 clase binare</a:t>
            </a: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E1 (Validă): True</a:t>
            </a:r>
            <a:endParaRPr lang="en-US" sz="1400">
              <a:ea typeface="+mn-lt"/>
              <a:cs typeface="+mn-lt"/>
            </a:endParaRPr>
          </a:p>
          <a:p>
            <a:pPr marL="1200150" lvl="1" indent="-285750">
              <a:buFont typeface="Franklin Gothic Book"/>
              <a:buChar char="–"/>
            </a:pPr>
            <a:r>
              <a:rPr lang="en-US" sz="1400" i="0">
                <a:ea typeface="+mn-lt"/>
                <a:cs typeface="+mn-lt"/>
              </a:rPr>
              <a:t>E2 (Validă): False</a:t>
            </a:r>
            <a:endParaRPr lang="en-US" sz="1400">
              <a:ea typeface="+mn-lt"/>
              <a:cs typeface="+mn-lt"/>
            </a:endParaRPr>
          </a:p>
          <a:p>
            <a:pPr lvl="1" indent="0">
              <a:buNone/>
            </a:pPr>
            <a:r>
              <a:rPr lang="en-US" sz="1400" b="1" i="0">
                <a:ea typeface="+mn-lt"/>
                <a:cs typeface="+mn-lt"/>
              </a:rPr>
              <a:t>Domeniul de Ieșiri (Rezultate posibile):</a:t>
            </a:r>
            <a:endParaRPr lang="en-US" sz="1400" b="1">
              <a:ea typeface="+mn-lt"/>
              <a:cs typeface="+mn-lt"/>
            </a:endParaRPr>
          </a:p>
          <a:p>
            <a:pPr marL="383540" indent="-383540">
              <a:buFont typeface="Franklin Gothic Book"/>
              <a:buChar char="■"/>
            </a:pPr>
            <a:r>
              <a:rPr lang="en-US" sz="1400" b="1">
                <a:ea typeface="+mn-lt"/>
                <a:cs typeface="+mn-lt"/>
              </a:rPr>
              <a:t>Eroare:</a:t>
            </a:r>
            <a:r>
              <a:rPr lang="en-US" sz="1400">
                <a:ea typeface="+mn-lt"/>
                <a:cs typeface="+mn-lt"/>
              </a:rPr>
              <a:t> Aruncă </a:t>
            </a:r>
            <a:r>
              <a:rPr lang="en-US" sz="1400">
                <a:latin typeface="Franklin Gothic Book"/>
              </a:rPr>
              <a:t>IllegalArgumentException</a:t>
            </a:r>
          </a:p>
          <a:p>
            <a:pPr marL="383540" indent="-383540">
              <a:buFont typeface="Franklin Gothic Book"/>
              <a:buChar char="■"/>
            </a:pPr>
            <a:r>
              <a:rPr lang="en-US" sz="1400" b="1">
                <a:ea typeface="+mn-lt"/>
                <a:cs typeface="+mn-lt"/>
              </a:rPr>
              <a:t>Note:</a:t>
            </a:r>
            <a:r>
              <a:rPr lang="en-US" sz="1400">
                <a:ea typeface="+mn-lt"/>
                <a:cs typeface="+mn-lt"/>
              </a:rPr>
              <a:t> Returnează "A+", "A", "B", "C", "D" sau "F"</a:t>
            </a:r>
          </a:p>
          <a:p>
            <a:pPr marL="0" indent="0">
              <a:buNone/>
            </a:pPr>
            <a:endParaRPr lang="en-US" sz="1400" b="1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11A8EAE1-305E-4C3A-BEFC-FA6E5DFF0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0385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07CC-FA14-344F-CF01-4AD44311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Testarea</a:t>
            </a:r>
            <a:r>
              <a:rPr lang="en-US" dirty="0"/>
              <a:t> </a:t>
            </a:r>
            <a:r>
              <a:rPr lang="en-US" dirty="0" err="1"/>
              <a:t>Functionala</a:t>
            </a:r>
            <a:endParaRPr lang="en-US" dirty="0" err="1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BF229-D494-243F-3367-47AF3BE95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25595"/>
            <a:ext cx="9601200" cy="402418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Clase </a:t>
            </a:r>
            <a:r>
              <a:rPr lang="en-US" b="1" dirty="0" err="1">
                <a:ea typeface="+mn-lt"/>
                <a:cs typeface="+mn-lt"/>
              </a:rPr>
              <a:t>Globale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Echivalență</a:t>
            </a:r>
            <a:r>
              <a:rPr lang="en-US" b="1" dirty="0">
                <a:ea typeface="+mn-lt"/>
                <a:cs typeface="+mn-lt"/>
              </a:rPr>
              <a:t> </a:t>
            </a:r>
            <a:endParaRPr lang="en-US" b="1" dirty="0"/>
          </a:p>
          <a:p>
            <a:pPr marL="383540" indent="-383540"/>
            <a:r>
              <a:rPr lang="en-US" b="1" dirty="0">
                <a:ea typeface="+mn-lt"/>
                <a:cs typeface="+mn-lt"/>
              </a:rPr>
              <a:t>Clase </a:t>
            </a:r>
            <a:r>
              <a:rPr lang="en-US" b="1" dirty="0" err="1">
                <a:ea typeface="+mn-lt"/>
                <a:cs typeface="+mn-lt"/>
              </a:rPr>
              <a:t>Globale</a:t>
            </a:r>
            <a:r>
              <a:rPr lang="en-US" b="1" dirty="0">
                <a:ea typeface="+mn-lt"/>
                <a:cs typeface="+mn-lt"/>
              </a:rPr>
              <a:t> (</a:t>
            </a:r>
            <a:r>
              <a:rPr lang="en-US" b="1" dirty="0" err="1">
                <a:ea typeface="+mn-lt"/>
                <a:cs typeface="+mn-lt"/>
              </a:rPr>
              <a:t>Combinații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testat</a:t>
            </a:r>
            <a:r>
              <a:rPr lang="en-US" b="1" dirty="0">
                <a:ea typeface="+mn-lt"/>
                <a:cs typeface="+mn-lt"/>
              </a:rPr>
              <a:t>):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CG_Invalid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Scorul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&lt; 0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&gt; 100 (produce </a:t>
            </a:r>
            <a:r>
              <a:rPr lang="en-US" dirty="0" err="1">
                <a:ea typeface="+mn-lt"/>
                <a:cs typeface="+mn-lt"/>
              </a:rPr>
              <a:t>excepție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restul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parametrilor</a:t>
            </a:r>
            <a:r>
              <a:rPr lang="en-US" dirty="0">
                <a:ea typeface="+mn-lt"/>
                <a:cs typeface="+mn-lt"/>
              </a:rPr>
              <a:t> nu </a:t>
            </a:r>
            <a:r>
              <a:rPr lang="en-US" dirty="0" err="1">
                <a:ea typeface="+mn-lt"/>
                <a:cs typeface="+mn-lt"/>
              </a:rPr>
              <a:t>contează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CG_Nota_A</a:t>
            </a:r>
            <a:r>
              <a:rPr lang="en-US" b="1" dirty="0">
                <a:ea typeface="+mn-lt"/>
                <a:cs typeface="+mn-lt"/>
              </a:rPr>
              <a:t>+:</a:t>
            </a:r>
            <a:r>
              <a:rPr lang="en-US" dirty="0">
                <a:ea typeface="+mn-lt"/>
                <a:cs typeface="+mn-lt"/>
              </a:rPr>
              <a:t> Scor valid, </a:t>
            </a:r>
            <a:r>
              <a:rPr lang="en-US" dirty="0" err="1">
                <a:ea typeface="+mn-lt"/>
                <a:cs typeface="+mn-lt"/>
              </a:rPr>
              <a:t>extraCredit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True, </a:t>
            </a:r>
            <a:r>
              <a:rPr lang="en-US" dirty="0" err="1">
                <a:ea typeface="+mn-lt"/>
                <a:cs typeface="+mn-lt"/>
              </a:rPr>
              <a:t>iar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totalul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&gt;= 90.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CG_Nota_A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Scor valid, </a:t>
            </a:r>
            <a:r>
              <a:rPr lang="en-US" dirty="0" err="1">
                <a:ea typeface="+mn-lt"/>
                <a:cs typeface="+mn-lt"/>
              </a:rPr>
              <a:t>extraCredit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False, </a:t>
            </a:r>
            <a:r>
              <a:rPr lang="en-US" dirty="0" err="1">
                <a:ea typeface="+mn-lt"/>
                <a:cs typeface="+mn-lt"/>
              </a:rPr>
              <a:t>iar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totalul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&gt;= 90.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CG_Nota_B</a:t>
            </a:r>
            <a:r>
              <a:rPr lang="en-US" b="1" dirty="0">
                <a:ea typeface="+mn-lt"/>
                <a:cs typeface="+mn-lt"/>
              </a:rPr>
              <a:t> / C / D:</a:t>
            </a:r>
            <a:r>
              <a:rPr lang="en-US" dirty="0">
                <a:ea typeface="+mn-lt"/>
                <a:cs typeface="+mn-lt"/>
              </a:rPr>
              <a:t> Scor valid, </a:t>
            </a:r>
            <a:r>
              <a:rPr lang="en-US" dirty="0" err="1">
                <a:ea typeface="+mn-lt"/>
                <a:cs typeface="+mn-lt"/>
              </a:rPr>
              <a:t>iar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totalul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intervalele</a:t>
            </a:r>
            <a:r>
              <a:rPr lang="en-US" dirty="0">
                <a:ea typeface="+mn-lt"/>
                <a:cs typeface="+mn-lt"/>
              </a:rPr>
              <a:t> [80-89], [70-79], </a:t>
            </a:r>
            <a:r>
              <a:rPr lang="en-US" dirty="0" err="1">
                <a:ea typeface="+mn-lt"/>
                <a:cs typeface="+mn-lt"/>
              </a:rPr>
              <a:t>respectiv</a:t>
            </a:r>
            <a:r>
              <a:rPr lang="en-US" dirty="0">
                <a:ea typeface="+mn-lt"/>
                <a:cs typeface="+mn-lt"/>
              </a:rPr>
              <a:t> [60-69].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CG_Nota_F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Scor valid, </a:t>
            </a:r>
            <a:r>
              <a:rPr lang="en-US" dirty="0" err="1">
                <a:ea typeface="+mn-lt"/>
                <a:cs typeface="+mn-lt"/>
              </a:rPr>
              <a:t>iar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totalul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&lt; 60.</a:t>
            </a:r>
            <a:endParaRPr lang="en-US" dirty="0"/>
          </a:p>
          <a:p>
            <a:pPr marL="383540" indent="-383540"/>
            <a:r>
              <a:rPr lang="en-US" b="1" dirty="0" err="1">
                <a:ea typeface="+mn-lt"/>
                <a:cs typeface="+mn-lt"/>
              </a:rPr>
              <a:t>Concluzie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marL="383540" indent="-383540"/>
            <a:r>
              <a:rPr lang="en-US" dirty="0">
                <a:ea typeface="+mn-lt"/>
                <a:cs typeface="+mn-lt"/>
              </a:rPr>
              <a:t>Prin </a:t>
            </a:r>
            <a:r>
              <a:rPr lang="en-US" dirty="0" err="1">
                <a:ea typeface="+mn-lt"/>
                <a:cs typeface="+mn-lt"/>
              </a:rPr>
              <a:t>metoda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partiționării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echivalență</a:t>
            </a:r>
            <a:r>
              <a:rPr lang="en-US" dirty="0">
                <a:ea typeface="+mn-lt"/>
                <a:cs typeface="+mn-lt"/>
              </a:rPr>
              <a:t>, am </a:t>
            </a:r>
            <a:r>
              <a:rPr lang="en-US" dirty="0" err="1">
                <a:ea typeface="+mn-lt"/>
                <a:cs typeface="+mn-lt"/>
              </a:rPr>
              <a:t>redus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număr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infinit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combinații</a:t>
            </a:r>
            <a:r>
              <a:rPr lang="en-US" dirty="0">
                <a:ea typeface="+mn-lt"/>
                <a:cs typeface="+mn-lt"/>
              </a:rPr>
              <a:t> de date de </a:t>
            </a:r>
            <a:r>
              <a:rPr lang="en-US" dirty="0" err="1">
                <a:ea typeface="+mn-lt"/>
                <a:cs typeface="+mn-lt"/>
              </a:rPr>
              <a:t>intrare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8 </a:t>
            </a:r>
            <a:r>
              <a:rPr lang="en-US" b="1" dirty="0" err="1">
                <a:ea typeface="+mn-lt"/>
                <a:cs typeface="+mn-lt"/>
              </a:rPr>
              <a:t>cazuri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testare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esențiale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abordare</a:t>
            </a:r>
            <a:r>
              <a:rPr lang="en-US" dirty="0">
                <a:ea typeface="+mn-lt"/>
                <a:cs typeface="+mn-lt"/>
              </a:rPr>
              <a:t> ne </a:t>
            </a:r>
            <a:r>
              <a:rPr lang="en-US" dirty="0" err="1">
                <a:ea typeface="+mn-lt"/>
                <a:cs typeface="+mn-lt"/>
              </a:rPr>
              <a:t>garantează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acoperire</a:t>
            </a:r>
            <a:r>
              <a:rPr lang="en-US" dirty="0">
                <a:ea typeface="+mn-lt"/>
                <a:cs typeface="+mn-lt"/>
              </a:rPr>
              <a:t> de 100% a </a:t>
            </a:r>
            <a:r>
              <a:rPr lang="en-US" dirty="0" err="1">
                <a:ea typeface="+mn-lt"/>
                <a:cs typeface="+mn-lt"/>
              </a:rPr>
              <a:t>specificațiilor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funcționale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eliminând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testele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redundante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eficientizând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procesul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validare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383540" indent="-38354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5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ED8A-F43C-0E7E-20C3-E178E7F7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functionala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8B1B93C-0886-EF57-EB8D-FBB1BD38C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440473"/>
              </p:ext>
            </p:extLst>
          </p:nvPr>
        </p:nvGraphicFramePr>
        <p:xfrm>
          <a:off x="1371600" y="2286000"/>
          <a:ext cx="9601200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17559882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3738528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2439047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776697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6781426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03612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Caz Test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score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bonus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  <a:latin typeface="Google Sans Text"/>
                        </a:rPr>
                        <a:t>extraCredit</a:t>
                      </a:r>
                      <a:endParaRPr lang="en-US" dirty="0" err="1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total </a:t>
                      </a:r>
                      <a:r>
                        <a:rPr lang="en-US" b="1" dirty="0" err="1">
                          <a:effectLst/>
                          <a:latin typeface="Google Sans Text"/>
                        </a:rPr>
                        <a:t>calculat</a:t>
                      </a:r>
                      <a:endParaRPr lang="en-US" dirty="0" err="1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  <a:latin typeface="Google Sans Text"/>
                        </a:rPr>
                        <a:t>Rezultat</a:t>
                      </a:r>
                      <a:r>
                        <a:rPr lang="en-US" b="1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US" b="1" dirty="0" err="1">
                          <a:effectLst/>
                          <a:latin typeface="Google Sans Text"/>
                        </a:rPr>
                        <a:t>Așteptat</a:t>
                      </a:r>
                      <a:endParaRPr lang="en-US" dirty="0" err="1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5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Min-1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-1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Exception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43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Min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F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1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Max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100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97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Max+1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Exception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84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Prag A+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85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true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90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A+</a:t>
                      </a:r>
                      <a:r>
                        <a:rPr lang="en-US">
                          <a:effectLst/>
                          <a:latin typeface="Google Sans Text"/>
                        </a:rPr>
                        <a:t> (85+0+5)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06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Prag 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90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false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90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691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Prag F/D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60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04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  <a:latin typeface="Google Sans Text"/>
                        </a:rPr>
                        <a:t>Plafon</a:t>
                      </a:r>
                      <a:endParaRPr lang="en-US" dirty="0" err="1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04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37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21B39-56F4-B3EE-4BFA-DFE1610A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Metoda Grafului Cauză-Efect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D9A0-9E19-C64C-E0AC-8FBD5EE66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4743" y="2286000"/>
            <a:ext cx="5793475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b="1" dirty="0" err="1">
                <a:solidFill>
                  <a:schemeClr val="tx1"/>
                </a:solidFill>
              </a:rPr>
              <a:t>Cauză</a:t>
            </a:r>
            <a:r>
              <a:rPr lang="en-US" sz="1700" b="1" dirty="0">
                <a:solidFill>
                  <a:schemeClr val="tx1"/>
                </a:solidFill>
              </a:rPr>
              <a:t> (C):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Orice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condiție</a:t>
            </a:r>
            <a:r>
              <a:rPr lang="en-US" sz="1700" dirty="0">
                <a:solidFill>
                  <a:schemeClr val="tx1"/>
                </a:solidFill>
              </a:rPr>
              <a:t> din </a:t>
            </a:r>
            <a:r>
              <a:rPr lang="en-US" sz="1700" dirty="0" err="1">
                <a:solidFill>
                  <a:schemeClr val="tx1"/>
                </a:solidFill>
              </a:rPr>
              <a:t>specificații</a:t>
            </a:r>
            <a:r>
              <a:rPr lang="en-US" sz="1700" dirty="0">
                <a:solidFill>
                  <a:schemeClr val="tx1"/>
                </a:solidFill>
              </a:rPr>
              <a:t> care </a:t>
            </a:r>
            <a:r>
              <a:rPr lang="en-US" sz="1700" dirty="0" err="1">
                <a:solidFill>
                  <a:schemeClr val="tx1"/>
                </a:solidFill>
              </a:rPr>
              <a:t>poate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afecta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răspunsul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programului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700" b="1" dirty="0" err="1">
                <a:solidFill>
                  <a:schemeClr val="tx1"/>
                </a:solidFill>
              </a:rPr>
              <a:t>Efect</a:t>
            </a:r>
            <a:r>
              <a:rPr lang="en-US" sz="1700" b="1" dirty="0">
                <a:solidFill>
                  <a:schemeClr val="tx1"/>
                </a:solidFill>
              </a:rPr>
              <a:t> (</a:t>
            </a:r>
            <a:r>
              <a:rPr lang="en-US" sz="1700" b="1" dirty="0" err="1">
                <a:solidFill>
                  <a:schemeClr val="tx1"/>
                </a:solidFill>
              </a:rPr>
              <a:t>Ef</a:t>
            </a:r>
            <a:r>
              <a:rPr lang="en-US" sz="1700" b="1" dirty="0">
                <a:solidFill>
                  <a:schemeClr val="tx1"/>
                </a:solidFill>
              </a:rPr>
              <a:t>):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Răspunsul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programului</a:t>
            </a:r>
            <a:r>
              <a:rPr lang="en-US" sz="1700" dirty="0">
                <a:solidFill>
                  <a:schemeClr val="tx1"/>
                </a:solidFill>
              </a:rPr>
              <a:t> la o </a:t>
            </a:r>
            <a:r>
              <a:rPr lang="en-US" sz="1700" dirty="0" err="1">
                <a:solidFill>
                  <a:schemeClr val="tx1"/>
                </a:solidFill>
              </a:rPr>
              <a:t>combinație</a:t>
            </a:r>
            <a:r>
              <a:rPr lang="en-US" sz="1700" dirty="0">
                <a:solidFill>
                  <a:schemeClr val="tx1"/>
                </a:solidFill>
              </a:rPr>
              <a:t> de </a:t>
            </a:r>
            <a:r>
              <a:rPr lang="en-US" sz="1700" dirty="0" err="1">
                <a:solidFill>
                  <a:schemeClr val="tx1"/>
                </a:solidFill>
              </a:rPr>
              <a:t>cauze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dirty="0" err="1">
                <a:solidFill>
                  <a:schemeClr val="tx1"/>
                </a:solidFill>
              </a:rPr>
              <a:t>mesaj</a:t>
            </a:r>
            <a:r>
              <a:rPr lang="en-US" sz="1700" dirty="0">
                <a:solidFill>
                  <a:schemeClr val="tx1"/>
                </a:solidFill>
              </a:rPr>
              <a:t> de </a:t>
            </a:r>
            <a:r>
              <a:rPr lang="en-US" sz="1700" dirty="0" err="1">
                <a:solidFill>
                  <a:schemeClr val="tx1"/>
                </a:solidFill>
              </a:rPr>
              <a:t>eroare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 err="1">
                <a:solidFill>
                  <a:schemeClr val="tx1"/>
                </a:solidFill>
              </a:rPr>
              <a:t>modificare</a:t>
            </a:r>
            <a:r>
              <a:rPr lang="en-US" sz="1700" dirty="0">
                <a:solidFill>
                  <a:schemeClr val="tx1"/>
                </a:solidFill>
              </a:rPr>
              <a:t> de stare, </a:t>
            </a:r>
            <a:r>
              <a:rPr lang="en-US" sz="1700" dirty="0" err="1">
                <a:solidFill>
                  <a:schemeClr val="tx1"/>
                </a:solidFill>
              </a:rPr>
              <a:t>valoare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returnată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chemeClr val="tx1"/>
                </a:solidFill>
                <a:effectLst/>
              </a:rPr>
              <a:t>Am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mapat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logica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aplicației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într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-un Graf al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Fluxului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de Control (CFG) cu 15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noduri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active.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 err="1">
                <a:solidFill>
                  <a:schemeClr val="tx1"/>
                </a:solidFill>
                <a:effectLst/>
              </a:rPr>
              <a:t>Orice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decizie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(if-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uri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bucle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) se traduce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printr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-o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ramificare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logică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chemeClr val="tx1"/>
                </a:solidFill>
                <a:effectLst/>
              </a:rPr>
              <a:t>Ne-a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ajutat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să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vizualizăm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rutele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prin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care o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notă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poate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trece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de la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intrare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nodul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1) la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ieșire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nodurile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12, 13 </a:t>
            </a:r>
            <a:r>
              <a:rPr lang="en-US" sz="1700" b="0" i="0" dirty="0" err="1">
                <a:solidFill>
                  <a:schemeClr val="tx1"/>
                </a:solidFill>
                <a:effectLst/>
              </a:rPr>
              <a:t>sau</a:t>
            </a:r>
            <a:r>
              <a:rPr lang="en-US" sz="1700" b="0" i="0" dirty="0">
                <a:solidFill>
                  <a:schemeClr val="tx1"/>
                </a:solidFill>
                <a:effectLst/>
              </a:rPr>
              <a:t> 15).</a:t>
            </a:r>
          </a:p>
          <a:p>
            <a:pPr>
              <a:buFont typeface="Franklin Gothic Book" panose="020B0503020102020204" pitchFamily="34" charset="0"/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black and white diagram&#10;&#10;AI-generated content may be incorrect.">
            <a:extLst>
              <a:ext uri="{FF2B5EF4-FFF2-40B4-BE49-F238E27FC236}">
                <a16:creationId xmlns:a16="http://schemas.microsoft.com/office/drawing/2014/main" id="{D58CDC45-0FE9-B75A-801B-D7284FE45F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0422" r="6879"/>
          <a:stretch>
            <a:fillRect/>
          </a:stretch>
        </p:blipFill>
        <p:spPr>
          <a:xfrm>
            <a:off x="7622557" y="10"/>
            <a:ext cx="456944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5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A54C-A680-1E42-8D49-1A8041BE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Structurala</a:t>
            </a:r>
            <a:r>
              <a:rPr lang="en-US" dirty="0"/>
              <a:t> cu </a:t>
            </a:r>
            <a:r>
              <a:rPr lang="en-US" dirty="0" err="1"/>
              <a:t>JaCoCo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E524-BBA2-F644-B6D8-00D81CD0A4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</a:rPr>
              <a:t>Statement Coverage: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 Am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testat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nivelul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de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bază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asigurându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-ne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că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fiecare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instrucțiune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(nod din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graf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)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este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executată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măcar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o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dată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fără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cod mort).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</a:rPr>
              <a:t>Branch/Decision Coverage (100%):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 Mai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mult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decât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instrucțiunile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, ne-am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asigurat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că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din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fiecare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nod de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decizie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am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plecat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atât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pe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varianta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Adevărat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cât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și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Fals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(ex: am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testat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și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plafonare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atinsă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și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neatinsă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5259BB-F743-264D-A7E2-6097B33F34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9386" y="2423128"/>
            <a:ext cx="6219128" cy="2263173"/>
          </a:xfrm>
        </p:spPr>
      </p:pic>
    </p:spTree>
    <p:extLst>
      <p:ext uri="{BB962C8B-B14F-4D97-AF65-F5344CB8AC3E}">
        <p14:creationId xmlns:p14="http://schemas.microsoft.com/office/powerpoint/2010/main" val="414849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8B9D-A378-674C-9F9E-2E242363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Atomica</a:t>
            </a:r>
            <a:r>
              <a:rPr lang="en-US" dirty="0"/>
              <a:t> (Condition &amp; MC/DC)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63D8D7-8E5F-4436-E7CC-26D422A9A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443318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168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7772-37BE-4E4E-9E41-C8718ACD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Circuite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4E1A-44EA-EA47-840F-5AB164D9B5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tx1"/>
                </a:solidFill>
                <a:effectLst/>
              </a:rPr>
              <a:t>Pentru</a:t>
            </a:r>
            <a:r>
              <a:rPr lang="en-US" b="0" i="0" dirty="0">
                <a:solidFill>
                  <a:schemeClr val="tx1"/>
                </a:solidFill>
                <a:effectLst/>
              </a:rPr>
              <a:t> a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ști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câte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drumuri</a:t>
            </a:r>
            <a:r>
              <a:rPr lang="en-US" b="0" i="0" dirty="0">
                <a:solidFill>
                  <a:schemeClr val="tx1"/>
                </a:solidFill>
                <a:effectLst/>
              </a:rPr>
              <a:t> total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diferite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există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în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programul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nostru</a:t>
            </a:r>
            <a:r>
              <a:rPr lang="en-US" b="0" i="0" dirty="0">
                <a:solidFill>
                  <a:schemeClr val="tx1"/>
                </a:solidFill>
                <a:effectLst/>
              </a:rPr>
              <a:t>, am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folosit</a:t>
            </a:r>
            <a:r>
              <a:rPr lang="en-US" b="0" i="0" dirty="0">
                <a:solidFill>
                  <a:schemeClr val="tx1"/>
                </a:solidFill>
                <a:effectLst/>
              </a:rPr>
              <a:t> formula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Complexității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Ciclomatice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McCabe: V(G) =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arce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-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noduri</a:t>
            </a:r>
            <a:r>
              <a:rPr lang="en-US" b="0" i="0" dirty="0">
                <a:solidFill>
                  <a:schemeClr val="tx1"/>
                </a:solidFill>
                <a:effectLst/>
              </a:rPr>
              <a:t> + 2.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tx1"/>
                </a:solidFill>
                <a:effectLst/>
              </a:rPr>
              <a:t>În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graful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nostru</a:t>
            </a:r>
            <a:r>
              <a:rPr lang="en-US" b="0" i="0" dirty="0">
                <a:solidFill>
                  <a:schemeClr val="tx1"/>
                </a:solidFill>
                <a:effectLst/>
              </a:rPr>
              <a:t>: V(G) = 17 - 14 + 2 = 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</a:rPr>
              <a:t>Am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scris</a:t>
            </a:r>
            <a:r>
              <a:rPr lang="en-US" b="0" i="0" dirty="0">
                <a:solidFill>
                  <a:schemeClr val="tx1"/>
                </a:solidFill>
                <a:effectLst/>
              </a:rPr>
              <a:t> fix 5 teste absolute,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parcurgând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rute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complet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independente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ruta</a:t>
            </a:r>
            <a:r>
              <a:rPr lang="en-US" b="0" i="0" dirty="0">
                <a:solidFill>
                  <a:schemeClr val="tx1"/>
                </a:solidFill>
                <a:effectLst/>
              </a:rPr>
              <a:t> de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eroare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rapidă</a:t>
            </a:r>
            <a:r>
              <a:rPr lang="en-US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ruta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normală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fără</a:t>
            </a:r>
            <a:r>
              <a:rPr lang="en-US" b="0" i="0" dirty="0">
                <a:solidFill>
                  <a:schemeClr val="tx1"/>
                </a:solidFill>
                <a:effectLst/>
              </a:rPr>
              <a:t> bonus,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ruta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deviată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prin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plafon</a:t>
            </a:r>
            <a:r>
              <a:rPr lang="en-US" b="0" i="0" dirty="0">
                <a:solidFill>
                  <a:schemeClr val="tx1"/>
                </a:solidFill>
                <a:effectLst/>
              </a:rPr>
              <a:t>, etc.).</a:t>
            </a:r>
          </a:p>
        </p:txBody>
      </p:sp>
      <p:pic>
        <p:nvPicPr>
          <p:cNvPr id="10" name="Content Placeholder 9" descr="A diagram of a line with numbers and arrows&#10;&#10;AI-generated content may be incorrect.">
            <a:extLst>
              <a:ext uri="{FF2B5EF4-FFF2-40B4-BE49-F238E27FC236}">
                <a16:creationId xmlns:a16="http://schemas.microsoft.com/office/drawing/2014/main" id="{C8121FD2-57EB-FA21-54C0-48FA7B9DA5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9386" y="2072045"/>
            <a:ext cx="6372614" cy="292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BA54-87E4-1A4E-9575-FF3FE73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85800"/>
            <a:ext cx="10905066" cy="148590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dirty="0" err="1"/>
              <a:t>Sfidarea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Mutatii</a:t>
            </a:r>
            <a:r>
              <a:rPr lang="en-US" dirty="0"/>
              <a:t> (</a:t>
            </a:r>
            <a:r>
              <a:rPr lang="en-US" dirty="0" err="1"/>
              <a:t>PITest</a:t>
            </a:r>
            <a:r>
              <a:rPr lang="en-US" dirty="0"/>
              <a:t>)</a:t>
            </a:r>
            <a:br>
              <a:rPr lang="en-US" dirty="0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ABC46B-FF39-6455-71C5-F0A8C5136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283730"/>
              </p:ext>
            </p:extLst>
          </p:nvPr>
        </p:nvGraphicFramePr>
        <p:xfrm>
          <a:off x="1122972" y="2286000"/>
          <a:ext cx="994605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66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BDB0-12F1-1740-B6DB-CBD22D05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Indicatorul</a:t>
            </a:r>
            <a:r>
              <a:rPr lang="en-US" dirty="0"/>
              <a:t> de </a:t>
            </a:r>
            <a:r>
              <a:rPr lang="en-US" dirty="0" err="1"/>
              <a:t>Omorare</a:t>
            </a:r>
            <a:r>
              <a:rPr lang="en-US" dirty="0"/>
              <a:t> &amp; </a:t>
            </a:r>
            <a:r>
              <a:rPr lang="en-US" dirty="0" err="1"/>
              <a:t>Mutanti</a:t>
            </a:r>
            <a:r>
              <a:rPr lang="en-US" dirty="0"/>
              <a:t> </a:t>
            </a:r>
            <a:r>
              <a:rPr lang="en-US" dirty="0" err="1"/>
              <a:t>Echivalenti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A14E-FEE4-DF43-BFA4-1B49B9E6F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</a:rPr>
              <a:t>Mutation Score: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 87% (34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mutanți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uciși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din 39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generați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).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Testele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au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picat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corect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la cod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modificat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malițios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chemeClr val="tx1"/>
                </a:solidFill>
                <a:effectLst/>
              </a:rPr>
              <a:t>Restul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mutanților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"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supraviețuitori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" s-au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dovedit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a fi </a:t>
            </a:r>
            <a:r>
              <a:rPr lang="en-US" sz="1800" b="1" i="0" dirty="0" err="1">
                <a:solidFill>
                  <a:schemeClr val="tx1"/>
                </a:solidFill>
                <a:effectLst/>
              </a:rPr>
              <a:t>Mutanți</a:t>
            </a:r>
            <a:r>
              <a:rPr lang="en-US" sz="1800" b="1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1" i="0" dirty="0" err="1">
                <a:solidFill>
                  <a:schemeClr val="tx1"/>
                </a:solidFill>
                <a:effectLst/>
              </a:rPr>
              <a:t>Echivalenți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,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adică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alterări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sintetice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care nu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afectează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comportamentul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matematic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al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aplicației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FBD6AF-2CC6-8F4C-A63A-4D12A6183E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4625" y="2285999"/>
            <a:ext cx="5415864" cy="3038493"/>
          </a:xfrm>
        </p:spPr>
      </p:pic>
    </p:spTree>
    <p:extLst>
      <p:ext uri="{BB962C8B-B14F-4D97-AF65-F5344CB8AC3E}">
        <p14:creationId xmlns:p14="http://schemas.microsoft.com/office/powerpoint/2010/main" val="997742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5CE3-91D3-784A-9E87-47CE9FDF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r>
              <a:rPr lang="en-US" dirty="0"/>
              <a:t> </a:t>
            </a:r>
            <a:r>
              <a:rPr lang="en-US" dirty="0" err="1"/>
              <a:t>Tehnice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5E39-520C-3F4A-BFB4-5E031B87B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O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singură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strategie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de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testare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nu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este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de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ajuns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. Am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combinat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Black-Box (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Specificatii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BVA) cu White-Box (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Acoperire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de Cod).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chemeClr val="tx1"/>
                </a:solidFill>
                <a:effectLst/>
              </a:rPr>
              <a:t>Aplicația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dezvoltată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execută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perfect 88/88 de teste,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validând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100% din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specificații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și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cod.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Un cod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puternic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necesită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teste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ce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prind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nu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doar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defectele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logice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evidente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(Branch Coverage), ci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și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pe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cele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ascunse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pe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margini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sau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condiții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compuse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</a:rPr>
              <a:t>independente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(MC/DC).</a:t>
            </a:r>
          </a:p>
        </p:txBody>
      </p:sp>
    </p:spTree>
    <p:extLst>
      <p:ext uri="{BB962C8B-B14F-4D97-AF65-F5344CB8AC3E}">
        <p14:creationId xmlns:p14="http://schemas.microsoft.com/office/powerpoint/2010/main" val="416151765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474</TotalTime>
  <Words>1093</Words>
  <Application>Microsoft Macintosh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-apple-system</vt:lpstr>
      <vt:lpstr>Arial</vt:lpstr>
      <vt:lpstr>Franklin Gothic Book</vt:lpstr>
      <vt:lpstr>Google Sans Text</vt:lpstr>
      <vt:lpstr>Crop</vt:lpstr>
      <vt:lpstr>T3 - Testare Unitară în Java</vt:lpstr>
      <vt:lpstr>Despre proiect și scopul nostru</vt:lpstr>
      <vt:lpstr>Scopul proiectului</vt:lpstr>
      <vt:lpstr>Functia Aleasa: Calculator de Note </vt:lpstr>
      <vt:lpstr>Testarea Functionala</vt:lpstr>
      <vt:lpstr>Testarea Functionala </vt:lpstr>
      <vt:lpstr>Testarea functionala</vt:lpstr>
      <vt:lpstr>Metoda Grafului Cauză-Efect</vt:lpstr>
      <vt:lpstr>Testarea Structurala cu JaCoCo </vt:lpstr>
      <vt:lpstr>Validarea Atomica (Condition &amp; MC/DC) </vt:lpstr>
      <vt:lpstr>Circuite Independente</vt:lpstr>
      <vt:lpstr>Sfidarea prin Mutatii (PITest) </vt:lpstr>
      <vt:lpstr>Indicatorul de Omorare &amp; Mutanti Echivalenti </vt:lpstr>
      <vt:lpstr>Concluzii Tehnice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T3 - Testare Unitară în Java</dc:title>
  <dc:creator>TUDOR-FLORIAN APOSTOL</dc:creator>
  <cp:lastModifiedBy>TUDOR-FLORIAN APOSTOL</cp:lastModifiedBy>
  <cp:revision>91</cp:revision>
  <dcterms:created xsi:type="dcterms:W3CDTF">2026-04-19T20:22:16Z</dcterms:created>
  <dcterms:modified xsi:type="dcterms:W3CDTF">2026-05-18T13:56:12Z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d67188-4396-4f49-b241-070cf408d0d1_Enabled">
    <vt:lpwstr>true</vt:lpwstr>
  </property>
  <property fmtid="{D5CDD505-2E9C-101B-9397-08002B2CF9AE}" pid="3" name="MSIP_Label_43d67188-4396-4f49-b241-070cf408d0d1_SetDate">
    <vt:lpwstr>2026-05-04T07:00:16Z</vt:lpwstr>
  </property>
  <property fmtid="{D5CDD505-2E9C-101B-9397-08002B2CF9AE}" pid="4" name="MSIP_Label_43d67188-4396-4f49-b241-070cf408d0d1_Method">
    <vt:lpwstr>Standard</vt:lpwstr>
  </property>
  <property fmtid="{D5CDD505-2E9C-101B-9397-08002B2CF9AE}" pid="5" name="MSIP_Label_43d67188-4396-4f49-b241-070cf408d0d1_Name">
    <vt:lpwstr>43d67188-4396-4f49-b241-070cf408d0d1</vt:lpwstr>
  </property>
  <property fmtid="{D5CDD505-2E9C-101B-9397-08002B2CF9AE}" pid="6" name="MSIP_Label_43d67188-4396-4f49-b241-070cf408d0d1_SiteId">
    <vt:lpwstr>0f6f68be-4ef2-465a-986b-eb9a250d9789</vt:lpwstr>
  </property>
  <property fmtid="{D5CDD505-2E9C-101B-9397-08002B2CF9AE}" pid="7" name="MSIP_Label_43d67188-4396-4f49-b241-070cf408d0d1_ActionId">
    <vt:lpwstr>b66260f9-ae65-4ee7-80c2-10bddc30eb51</vt:lpwstr>
  </property>
  <property fmtid="{D5CDD505-2E9C-101B-9397-08002B2CF9AE}" pid="8" name="MSIP_Label_43d67188-4396-4f49-b241-070cf408d0d1_ContentBits">
    <vt:lpwstr>2</vt:lpwstr>
  </property>
  <property fmtid="{D5CDD505-2E9C-101B-9397-08002B2CF9AE}" pid="9" name="MSIP_Label_43d67188-4396-4f49-b241-070cf408d0d1_Tag">
    <vt:lpwstr>10, 3, 0, 2</vt:lpwstr>
  </property>
  <property fmtid="{D5CDD505-2E9C-101B-9397-08002B2CF9AE}" pid="10" name="ClassificationContentMarkingFooterLocations">
    <vt:lpwstr>Crop:8</vt:lpwstr>
  </property>
  <property fmtid="{D5CDD505-2E9C-101B-9397-08002B2CF9AE}" pid="11" name="ClassificationContentMarkingFooterText">
    <vt:lpwstr>Internal</vt:lpwstr>
  </property>
</Properties>
</file>