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2" r:id="rId5"/>
    <p:sldId id="259" r:id="rId6"/>
    <p:sldId id="268" r:id="rId7"/>
    <p:sldId id="263" r:id="rId8"/>
    <p:sldId id="260" r:id="rId9"/>
    <p:sldId id="261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67"/>
    <p:restoredTop sz="94708"/>
  </p:normalViewPr>
  <p:slideViewPr>
    <p:cSldViewPr snapToGrid="0">
      <p:cViewPr varScale="1">
        <p:scale>
          <a:sx n="140" d="100"/>
          <a:sy n="140" d="100"/>
        </p:scale>
        <p:origin x="20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7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8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4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41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16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63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3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9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105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724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83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63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27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65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D42DD-04AD-4B69-BCB5-F870050F275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3A3C4-A68C-4673-ACE7-76CB0F7C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669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7410785/" TargetMode="External"/><Relationship Id="rId2" Type="http://schemas.openxmlformats.org/officeDocument/2006/relationships/hyperlink" Target="https://www.cl.cam.ac.uk/research/rainbow/projects/synthesey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pository.cam.ac.uk/items/f9464c88-5797-4f28-824c-10003a9704f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 err="1"/>
              <a:t>Syntheyes</a:t>
            </a:r>
            <a:r>
              <a:rPr lang="en-US" dirty="0"/>
              <a:t>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 err="1"/>
              <a:t>Agusoaei</a:t>
            </a:r>
            <a:r>
              <a:rPr lang="en-US" dirty="0"/>
              <a:t> </a:t>
            </a:r>
            <a:r>
              <a:rPr lang="en-US" dirty="0" err="1"/>
              <a:t>Alexandru</a:t>
            </a:r>
            <a:r>
              <a:rPr lang="en-US" dirty="0"/>
              <a:t>, Cohen albert, </a:t>
            </a:r>
            <a:r>
              <a:rPr lang="en-US" dirty="0" err="1"/>
              <a:t>apostol</a:t>
            </a:r>
            <a:r>
              <a:rPr lang="en-US" dirty="0"/>
              <a:t> </a:t>
            </a:r>
            <a:r>
              <a:rPr lang="en-US" dirty="0" err="1"/>
              <a:t>tudor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59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45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Problema</a:t>
            </a:r>
            <a:r>
              <a:rPr lang="en-US" dirty="0"/>
              <a:t> - </a:t>
            </a:r>
            <a:r>
              <a:rPr lang="en-US" dirty="0" err="1"/>
              <a:t>Provocarile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Reale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274618"/>
            <a:ext cx="9905999" cy="4516583"/>
          </a:xfrm>
        </p:spPr>
        <p:txBody>
          <a:bodyPr>
            <a:normAutofit/>
          </a:bodyPr>
          <a:lstStyle/>
          <a:p>
            <a:r>
              <a:rPr lang="en-US" b="1" dirty="0" err="1"/>
              <a:t>Nevoia</a:t>
            </a:r>
            <a:r>
              <a:rPr lang="en-US" b="1" dirty="0"/>
              <a:t> de </a:t>
            </a:r>
            <a:r>
              <a:rPr lang="en-US" b="1" dirty="0" err="1"/>
              <a:t>Volum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</a:t>
            </a:r>
            <a:r>
              <a:rPr lang="en-US" dirty="0" err="1"/>
              <a:t>moderne</a:t>
            </a:r>
            <a:r>
              <a:rPr lang="en-US" dirty="0"/>
              <a:t> de </a:t>
            </a:r>
            <a:r>
              <a:rPr lang="en-US" dirty="0" err="1"/>
              <a:t>invatare</a:t>
            </a:r>
            <a:r>
              <a:rPr lang="en-US" dirty="0"/>
              <a:t> </a:t>
            </a:r>
            <a:r>
              <a:rPr lang="en-US" dirty="0" err="1"/>
              <a:t>supervizata</a:t>
            </a:r>
            <a:r>
              <a:rPr lang="en-US" dirty="0"/>
              <a:t> </a:t>
            </a: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cantitati</a:t>
            </a:r>
            <a:r>
              <a:rPr lang="en-US" dirty="0"/>
              <a:t> </a:t>
            </a:r>
            <a:r>
              <a:rPr lang="en-US" dirty="0" err="1"/>
              <a:t>masive</a:t>
            </a:r>
            <a:r>
              <a:rPr lang="en-US" dirty="0"/>
              <a:t> de date de </a:t>
            </a:r>
            <a:r>
              <a:rPr lang="en-US" dirty="0" err="1"/>
              <a:t>antrenament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performa</a:t>
            </a:r>
            <a:r>
              <a:rPr lang="en-US" dirty="0"/>
              <a:t>.</a:t>
            </a:r>
          </a:p>
          <a:p>
            <a:r>
              <a:rPr lang="en-US" b="1" dirty="0"/>
              <a:t>Cost </a:t>
            </a:r>
            <a:r>
              <a:rPr lang="ro-RO" b="1" dirty="0" err="1"/>
              <a:t>ș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Timp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Colectarea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reale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proces</a:t>
            </a:r>
            <a:r>
              <a:rPr lang="en-US" dirty="0"/>
              <a:t> lent, </a:t>
            </a:r>
            <a:r>
              <a:rPr lang="en-US" dirty="0" err="1"/>
              <a:t>costisitor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necesită</a:t>
            </a:r>
            <a:r>
              <a:rPr lang="en-US" dirty="0"/>
              <a:t> </a:t>
            </a:r>
            <a:r>
              <a:rPr lang="en-US" dirty="0" err="1"/>
              <a:t>multă</a:t>
            </a:r>
            <a:r>
              <a:rPr lang="en-US" dirty="0"/>
              <a:t> </a:t>
            </a:r>
            <a:r>
              <a:rPr lang="en-US" dirty="0" err="1"/>
              <a:t>muncă</a:t>
            </a:r>
            <a:r>
              <a:rPr lang="en-US" dirty="0"/>
              <a:t> </a:t>
            </a:r>
            <a:r>
              <a:rPr lang="en-US" dirty="0" err="1"/>
              <a:t>manuală</a:t>
            </a:r>
            <a:r>
              <a:rPr lang="en-US" dirty="0"/>
              <a:t>.</a:t>
            </a:r>
          </a:p>
          <a:p>
            <a:r>
              <a:rPr lang="en-US" b="1" dirty="0" err="1"/>
              <a:t>Fiabilitatea</a:t>
            </a:r>
            <a:r>
              <a:rPr lang="en-US" b="1" dirty="0"/>
              <a:t> </a:t>
            </a:r>
            <a:r>
              <a:rPr lang="en-US" b="1" dirty="0" err="1"/>
              <a:t>Etichetării</a:t>
            </a:r>
            <a:r>
              <a:rPr lang="en-US" b="1" dirty="0"/>
              <a:t> (Ground Truth):</a:t>
            </a:r>
            <a:r>
              <a:rPr lang="en-US" dirty="0"/>
              <a:t> </a:t>
            </a:r>
            <a:r>
              <a:rPr lang="en-US" dirty="0" err="1"/>
              <a:t>Adnotarea</a:t>
            </a:r>
            <a:r>
              <a:rPr lang="en-US" dirty="0"/>
              <a:t> </a:t>
            </a:r>
            <a:r>
              <a:rPr lang="en-US" dirty="0" err="1"/>
              <a:t>manuală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dificila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,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important, </a:t>
            </a:r>
            <a:r>
              <a:rPr lang="en-US" b="1" dirty="0" err="1"/>
              <a:t>predispusă</a:t>
            </a:r>
            <a:r>
              <a:rPr lang="en-US" b="1" dirty="0"/>
              <a:t> la </a:t>
            </a:r>
            <a:r>
              <a:rPr lang="en-US" b="1" dirty="0" err="1"/>
              <a:t>erori</a:t>
            </a:r>
            <a:r>
              <a:rPr lang="en-US" dirty="0"/>
              <a:t>. Este </a:t>
            </a:r>
            <a:r>
              <a:rPr lang="en-US" dirty="0" err="1"/>
              <a:t>dificil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un om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eticheteze</a:t>
            </a:r>
            <a:r>
              <a:rPr lang="en-US" dirty="0"/>
              <a:t> precis </a:t>
            </a:r>
            <a:r>
              <a:rPr lang="en-US" dirty="0" err="1"/>
              <a:t>milimetric</a:t>
            </a:r>
            <a:r>
              <a:rPr lang="en-US" dirty="0"/>
              <a:t> </a:t>
            </a:r>
            <a:r>
              <a:rPr lang="en-US" dirty="0" err="1"/>
              <a:t>centrul</a:t>
            </a:r>
            <a:r>
              <a:rPr lang="en-US" dirty="0"/>
              <a:t> </a:t>
            </a:r>
            <a:r>
              <a:rPr lang="en-US" dirty="0" err="1"/>
              <a:t>pupilei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conturul</a:t>
            </a:r>
            <a:r>
              <a:rPr lang="en-US" dirty="0"/>
              <a:t> exact al </a:t>
            </a:r>
            <a:r>
              <a:rPr lang="en-US" dirty="0" err="1"/>
              <a:t>pleoapei</a:t>
            </a:r>
            <a:r>
              <a:rPr lang="en-US" dirty="0"/>
              <a:t>.</a:t>
            </a:r>
          </a:p>
          <a:p>
            <a:r>
              <a:rPr lang="en-US" b="1" dirty="0" err="1"/>
              <a:t>Limitări</a:t>
            </a:r>
            <a:r>
              <a:rPr lang="en-US" b="1" dirty="0"/>
              <a:t> de </a:t>
            </a:r>
            <a:r>
              <a:rPr lang="en-US" b="1" dirty="0" err="1"/>
              <a:t>Mediu</a:t>
            </a:r>
            <a:r>
              <a:rPr lang="en-US" b="1" dirty="0"/>
              <a:t>:</a:t>
            </a:r>
            <a:r>
              <a:rPr lang="en-US" dirty="0"/>
              <a:t> Este </a:t>
            </a:r>
            <a:r>
              <a:rPr lang="en-US" dirty="0" err="1"/>
              <a:t>greu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capturezi</a:t>
            </a:r>
            <a:r>
              <a:rPr lang="en-US" dirty="0"/>
              <a:t> date </a:t>
            </a:r>
            <a:r>
              <a:rPr lang="en-US" dirty="0" err="1"/>
              <a:t>reale</a:t>
            </a:r>
            <a:r>
              <a:rPr lang="en-US" dirty="0"/>
              <a:t> care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acopere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condițiile</a:t>
            </a:r>
            <a:r>
              <a:rPr lang="en-US" dirty="0"/>
              <a:t> </a:t>
            </a:r>
            <a:r>
              <a:rPr lang="en-US" dirty="0" err="1"/>
              <a:t>posibile</a:t>
            </a:r>
            <a:r>
              <a:rPr lang="en-US" dirty="0"/>
              <a:t> de </a:t>
            </a:r>
            <a:r>
              <a:rPr lang="en-US" dirty="0" err="1"/>
              <a:t>iluminare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unghiurile</a:t>
            </a:r>
            <a:r>
              <a:rPr lang="en-US" dirty="0"/>
              <a:t> </a:t>
            </a:r>
            <a:r>
              <a:rPr lang="en-US" dirty="0" err="1"/>
              <a:t>capului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77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83809"/>
          </a:xfrm>
        </p:spPr>
        <p:txBody>
          <a:bodyPr/>
          <a:lstStyle/>
          <a:p>
            <a:r>
              <a:rPr lang="en-US" dirty="0" err="1"/>
              <a:t>Solu</a:t>
            </a:r>
            <a:r>
              <a:rPr lang="ro-RO" dirty="0"/>
              <a:t>tia</a:t>
            </a:r>
            <a:r>
              <a:rPr lang="en-US" dirty="0"/>
              <a:t>: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syntheseyes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524000"/>
            <a:ext cx="9905999" cy="4267201"/>
          </a:xfrm>
        </p:spPr>
        <p:txBody>
          <a:bodyPr>
            <a:normAutofit/>
          </a:bodyPr>
          <a:lstStyle/>
          <a:p>
            <a:r>
              <a:rPr lang="en-US" b="1" dirty="0" err="1"/>
              <a:t>Etichetare</a:t>
            </a:r>
            <a:r>
              <a:rPr lang="en-US" b="1" dirty="0"/>
              <a:t> </a:t>
            </a:r>
            <a:r>
              <a:rPr lang="en-US" b="1" dirty="0" err="1"/>
              <a:t>Perfectă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imaginile</a:t>
            </a:r>
            <a:r>
              <a:rPr lang="en-US" dirty="0"/>
              <a:t> sunt generate de computer, </a:t>
            </a:r>
            <a:r>
              <a:rPr lang="en-US" dirty="0" err="1"/>
              <a:t>cunoaștem</a:t>
            </a:r>
            <a:r>
              <a:rPr lang="en-US" dirty="0"/>
              <a:t> </a:t>
            </a:r>
            <a:r>
              <a:rPr lang="en-US" dirty="0" err="1"/>
              <a:t>poziția</a:t>
            </a:r>
            <a:r>
              <a:rPr lang="en-US" dirty="0"/>
              <a:t> </a:t>
            </a:r>
            <a:r>
              <a:rPr lang="en-US" dirty="0" err="1"/>
              <a:t>exactă</a:t>
            </a:r>
            <a:r>
              <a:rPr lang="en-US" dirty="0"/>
              <a:t> a </a:t>
            </a:r>
            <a:r>
              <a:rPr lang="en-US" dirty="0" err="1"/>
              <a:t>fiecărui</a:t>
            </a:r>
            <a:r>
              <a:rPr lang="en-US" dirty="0"/>
              <a:t> </a:t>
            </a:r>
            <a:r>
              <a:rPr lang="en-US" dirty="0" err="1"/>
              <a:t>punct</a:t>
            </a:r>
            <a:r>
              <a:rPr lang="en-US" dirty="0"/>
              <a:t> anatomic (iris, </a:t>
            </a:r>
            <a:r>
              <a:rPr lang="en-US" dirty="0" err="1"/>
              <a:t>pupilă</a:t>
            </a:r>
            <a:r>
              <a:rPr lang="en-US" dirty="0"/>
              <a:t>, </a:t>
            </a:r>
            <a:r>
              <a:rPr lang="en-US" dirty="0" err="1"/>
              <a:t>pleoape</a:t>
            </a:r>
            <a:r>
              <a:rPr lang="en-US" dirty="0"/>
              <a:t>). </a:t>
            </a:r>
            <a:r>
              <a:rPr lang="en-US" dirty="0" err="1"/>
              <a:t>Etichetele</a:t>
            </a:r>
            <a:r>
              <a:rPr lang="en-US" dirty="0"/>
              <a:t> sunt 100% </a:t>
            </a:r>
            <a:r>
              <a:rPr lang="en-US" dirty="0" err="1"/>
              <a:t>corecte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consistente</a:t>
            </a:r>
            <a:r>
              <a:rPr lang="en-US" dirty="0"/>
              <a:t>.</a:t>
            </a:r>
          </a:p>
          <a:p>
            <a:r>
              <a:rPr lang="en-US" b="1" dirty="0"/>
              <a:t>Realism </a:t>
            </a:r>
            <a:r>
              <a:rPr lang="en-US" b="1" dirty="0" err="1"/>
              <a:t>și</a:t>
            </a:r>
            <a:r>
              <a:rPr lang="en-US" b="1" dirty="0"/>
              <a:t> Control: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combină</a:t>
            </a:r>
            <a:r>
              <a:rPr lang="en-US" dirty="0"/>
              <a:t> </a:t>
            </a:r>
            <a:r>
              <a:rPr lang="en-US" dirty="0" err="1"/>
              <a:t>scanări</a:t>
            </a:r>
            <a:r>
              <a:rPr lang="en-US" dirty="0"/>
              <a:t> 3D ale </a:t>
            </a:r>
            <a:r>
              <a:rPr lang="en-US" dirty="0" err="1"/>
              <a:t>capului</a:t>
            </a:r>
            <a:r>
              <a:rPr lang="en-US" dirty="0"/>
              <a:t> cu un model </a:t>
            </a:r>
            <a:r>
              <a:rPr lang="en-US" dirty="0" err="1"/>
              <a:t>dinamic</a:t>
            </a:r>
            <a:r>
              <a:rPr lang="en-US" dirty="0"/>
              <a:t> al </a:t>
            </a:r>
            <a:r>
              <a:rPr lang="en-US" dirty="0" err="1"/>
              <a:t>ochiului</a:t>
            </a:r>
            <a:r>
              <a:rPr lang="en-US" dirty="0"/>
              <a:t>.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variații</a:t>
            </a:r>
            <a:r>
              <a:rPr lang="en-US" dirty="0"/>
              <a:t> extreme de </a:t>
            </a:r>
            <a:r>
              <a:rPr lang="en-US" dirty="0" err="1"/>
              <a:t>iluminare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poziții</a:t>
            </a:r>
            <a:r>
              <a:rPr lang="en-US" dirty="0"/>
              <a:t> ale </a:t>
            </a:r>
            <a:r>
              <a:rPr lang="en-US" dirty="0" err="1"/>
              <a:t>privirii</a:t>
            </a:r>
            <a:r>
              <a:rPr lang="en-US" dirty="0"/>
              <a:t> care sunt </a:t>
            </a:r>
            <a:r>
              <a:rPr lang="en-US" dirty="0" err="1"/>
              <a:t>greu</a:t>
            </a:r>
            <a:r>
              <a:rPr lang="en-US" dirty="0"/>
              <a:t> de </a:t>
            </a:r>
            <a:r>
              <a:rPr lang="en-US" dirty="0" err="1"/>
              <a:t>obținut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realitate</a:t>
            </a:r>
            <a:r>
              <a:rPr lang="en-US" dirty="0"/>
              <a:t>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532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28391"/>
          </a:xfrm>
        </p:spPr>
        <p:txBody>
          <a:bodyPr/>
          <a:lstStyle/>
          <a:p>
            <a:pPr algn="ctr"/>
            <a:r>
              <a:rPr lang="en-US" dirty="0" err="1"/>
              <a:t>Studii</a:t>
            </a:r>
            <a:r>
              <a:rPr lang="en-US" dirty="0"/>
              <a:t> </a:t>
            </a:r>
            <a:r>
              <a:rPr lang="en-US" dirty="0" err="1"/>
              <a:t>similare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246909"/>
            <a:ext cx="9905999" cy="4544292"/>
          </a:xfrm>
        </p:spPr>
        <p:txBody>
          <a:bodyPr/>
          <a:lstStyle/>
          <a:p>
            <a:r>
              <a:rPr lang="en-US" dirty="0"/>
              <a:t>2016 – </a:t>
            </a:r>
            <a:r>
              <a:rPr lang="en-US" dirty="0" err="1"/>
              <a:t>UnityEyes</a:t>
            </a:r>
            <a:r>
              <a:rPr lang="en-US" dirty="0"/>
              <a:t> (Wood et al., 2016): </a:t>
            </a:r>
            <a:r>
              <a:rPr lang="en-US" dirty="0" err="1"/>
              <a:t>Procesul</a:t>
            </a:r>
            <a:r>
              <a:rPr lang="en-US" dirty="0"/>
              <a:t> de </a:t>
            </a:r>
            <a:r>
              <a:rPr lang="en-US" dirty="0" err="1"/>
              <a:t>generare</a:t>
            </a:r>
            <a:r>
              <a:rPr lang="en-US" dirty="0"/>
              <a:t> in Unity, </a:t>
            </a:r>
            <a:r>
              <a:rPr lang="en-US" dirty="0" err="1"/>
              <a:t>randare</a:t>
            </a:r>
            <a:r>
              <a:rPr lang="en-US" dirty="0"/>
              <a:t> in </a:t>
            </a:r>
            <a:r>
              <a:rPr lang="en-US" dirty="0" err="1"/>
              <a:t>timp</a:t>
            </a:r>
            <a:r>
              <a:rPr lang="en-US" dirty="0"/>
              <a:t> real,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rapid</a:t>
            </a:r>
          </a:p>
          <a:p>
            <a:r>
              <a:rPr lang="en-US" dirty="0"/>
              <a:t>2017 – </a:t>
            </a:r>
            <a:r>
              <a:rPr lang="en-US" dirty="0" err="1"/>
              <a:t>SimGAN</a:t>
            </a:r>
            <a:r>
              <a:rPr lang="en-US" dirty="0"/>
              <a:t> </a:t>
            </a:r>
            <a:r>
              <a:rPr lang="it-IT" dirty="0"/>
              <a:t>(Shrivastava et al., 2017 - Apple)</a:t>
            </a:r>
            <a:r>
              <a:rPr lang="en-US" dirty="0"/>
              <a:t>: </a:t>
            </a:r>
            <a:r>
              <a:rPr lang="en-US" dirty="0" err="1"/>
              <a:t>SynthEyes</a:t>
            </a:r>
            <a:r>
              <a:rPr lang="en-US" dirty="0"/>
              <a:t> + </a:t>
            </a:r>
            <a:r>
              <a:rPr lang="en-US" dirty="0" err="1"/>
              <a:t>rafinare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imperfectiuni</a:t>
            </a:r>
            <a:r>
              <a:rPr lang="en-US" dirty="0"/>
              <a:t> cu </a:t>
            </a:r>
            <a:r>
              <a:rPr lang="en-US" dirty="0" err="1"/>
              <a:t>Rețele</a:t>
            </a:r>
            <a:r>
              <a:rPr lang="en-US" dirty="0"/>
              <a:t> Generative </a:t>
            </a:r>
            <a:r>
              <a:rPr lang="en-US" dirty="0" err="1"/>
              <a:t>Adversariale</a:t>
            </a:r>
            <a:endParaRPr lang="en-US" dirty="0"/>
          </a:p>
          <a:p>
            <a:r>
              <a:rPr lang="en-US" dirty="0"/>
              <a:t>2021 - "Fake It Till You Make It“</a:t>
            </a:r>
            <a:r>
              <a:rPr lang="nl-NL" dirty="0"/>
              <a:t>(Wood et al., 2021 - Microsoft)</a:t>
            </a:r>
            <a:r>
              <a:rPr lang="en-US" dirty="0"/>
              <a:t>: S-a </a:t>
            </a:r>
            <a:r>
              <a:rPr lang="en-US" dirty="0" err="1"/>
              <a:t>extins</a:t>
            </a:r>
            <a:r>
              <a:rPr lang="en-US" dirty="0"/>
              <a:t> </a:t>
            </a:r>
            <a:r>
              <a:rPr lang="en-US" dirty="0" err="1"/>
              <a:t>conceptul</a:t>
            </a:r>
            <a:r>
              <a:rPr lang="en-US" dirty="0"/>
              <a:t> de la </a:t>
            </a:r>
            <a:r>
              <a:rPr lang="en-US" dirty="0" err="1"/>
              <a:t>ochi</a:t>
            </a:r>
            <a:r>
              <a:rPr lang="en-US" dirty="0"/>
              <a:t> la </a:t>
            </a:r>
            <a:r>
              <a:rPr lang="en-US" dirty="0" err="1"/>
              <a:t>intreaga</a:t>
            </a:r>
            <a:r>
              <a:rPr lang="en-US" dirty="0"/>
              <a:t> fata,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comparabile</a:t>
            </a:r>
            <a:r>
              <a:rPr lang="en-US" dirty="0"/>
              <a:t> cu date </a:t>
            </a:r>
            <a:r>
              <a:rPr lang="en-US" dirty="0" err="1"/>
              <a:t>reale</a:t>
            </a:r>
            <a:r>
              <a:rPr lang="en-US" dirty="0"/>
              <a:t>, </a:t>
            </a:r>
            <a:r>
              <a:rPr lang="en-US" dirty="0" err="1"/>
              <a:t>rezolva</a:t>
            </a:r>
            <a:r>
              <a:rPr lang="en-US" dirty="0"/>
              <a:t> </a:t>
            </a:r>
            <a:r>
              <a:rPr lang="en-US" dirty="0" err="1"/>
              <a:t>problemele</a:t>
            </a:r>
            <a:r>
              <a:rPr lang="en-US" dirty="0"/>
              <a:t> de privacy</a:t>
            </a:r>
          </a:p>
          <a:p>
            <a:r>
              <a:rPr lang="en-US" dirty="0"/>
              <a:t>2025 – “Dual Focus-3D (Hybrid Deep Learning): </a:t>
            </a:r>
            <a:r>
              <a:rPr lang="en-US" dirty="0" err="1"/>
              <a:t>Combina</a:t>
            </a:r>
            <a:r>
              <a:rPr lang="en-US" dirty="0"/>
              <a:t> </a:t>
            </a:r>
            <a:r>
              <a:rPr lang="en-US" dirty="0" err="1"/>
              <a:t>geometria</a:t>
            </a:r>
            <a:r>
              <a:rPr lang="en-US" dirty="0"/>
              <a:t> </a:t>
            </a:r>
            <a:r>
              <a:rPr lang="en-US" dirty="0" err="1"/>
              <a:t>ochilor</a:t>
            </a:r>
            <a:r>
              <a:rPr lang="en-US" dirty="0"/>
              <a:t> + </a:t>
            </a:r>
            <a:r>
              <a:rPr lang="en-US" dirty="0" err="1"/>
              <a:t>capului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32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83809"/>
          </a:xfrm>
        </p:spPr>
        <p:txBody>
          <a:bodyPr/>
          <a:lstStyle/>
          <a:p>
            <a:pPr algn="ctr"/>
            <a:r>
              <a:rPr lang="en-US" dirty="0"/>
              <a:t>Cum functioneaza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syntheseyes</a:t>
            </a:r>
            <a:r>
              <a:rPr lang="en-US" dirty="0"/>
              <a:t>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302326"/>
            <a:ext cx="9905999" cy="5200073"/>
          </a:xfrm>
        </p:spPr>
        <p:txBody>
          <a:bodyPr>
            <a:normAutofit lnSpcReduction="10000"/>
          </a:bodyPr>
          <a:lstStyle/>
          <a:p>
            <a:r>
              <a:rPr lang="it-IT" dirty="0"/>
              <a:t>1. Achiziția și Pregătirea Geometriei (Model Prep) - </a:t>
            </a:r>
            <a:r>
              <a:rPr lang="en-US" dirty="0" err="1"/>
              <a:t>Scanări</a:t>
            </a:r>
            <a:r>
              <a:rPr lang="en-US" dirty="0"/>
              <a:t> 3D de </a:t>
            </a:r>
            <a:r>
              <a:rPr lang="en-US" dirty="0" err="1"/>
              <a:t>înaltă</a:t>
            </a:r>
            <a:r>
              <a:rPr lang="en-US" dirty="0"/>
              <a:t> </a:t>
            </a:r>
            <a:r>
              <a:rPr lang="en-US" dirty="0" err="1"/>
              <a:t>rezoluție</a:t>
            </a:r>
            <a:r>
              <a:rPr lang="en-US" dirty="0"/>
              <a:t> ale </a:t>
            </a:r>
            <a:r>
              <a:rPr lang="en-US" dirty="0" err="1"/>
              <a:t>capului</a:t>
            </a:r>
            <a:r>
              <a:rPr lang="en-US" dirty="0"/>
              <a:t> (</a:t>
            </a:r>
            <a:r>
              <a:rPr lang="en-US" dirty="0" err="1"/>
              <a:t>fotogrammetrie</a:t>
            </a:r>
            <a:r>
              <a:rPr lang="en-US" dirty="0"/>
              <a:t>)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captura</a:t>
            </a:r>
            <a:r>
              <a:rPr lang="en-US" dirty="0"/>
              <a:t> </a:t>
            </a:r>
            <a:r>
              <a:rPr lang="en-US" dirty="0" err="1"/>
              <a:t>diversitatea</a:t>
            </a:r>
            <a:r>
              <a:rPr lang="en-US" dirty="0"/>
              <a:t> </a:t>
            </a:r>
            <a:r>
              <a:rPr lang="en-US" dirty="0" err="1"/>
              <a:t>feței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 (</a:t>
            </a:r>
            <a:r>
              <a:rPr lang="en-US" dirty="0" err="1"/>
              <a:t>etnie</a:t>
            </a:r>
            <a:r>
              <a:rPr lang="en-US" dirty="0"/>
              <a:t>, </a:t>
            </a:r>
            <a:r>
              <a:rPr lang="en-US" dirty="0" err="1"/>
              <a:t>vârstă</a:t>
            </a:r>
            <a:r>
              <a:rPr lang="en-US" dirty="0"/>
              <a:t>).</a:t>
            </a:r>
          </a:p>
          <a:p>
            <a:r>
              <a:rPr lang="en-US" b="1" dirty="0"/>
              <a:t>2. </a:t>
            </a:r>
            <a:r>
              <a:rPr lang="en-US" b="1" dirty="0" err="1"/>
              <a:t>Modelarea</a:t>
            </a:r>
            <a:r>
              <a:rPr lang="en-US" b="1" dirty="0"/>
              <a:t> </a:t>
            </a:r>
            <a:r>
              <a:rPr lang="en-US" b="1" dirty="0" err="1"/>
              <a:t>Ochiului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Detaliile</a:t>
            </a:r>
            <a:r>
              <a:rPr lang="en-US" b="1" dirty="0"/>
              <a:t> Fine - </a:t>
            </a:r>
            <a:r>
              <a:rPr lang="en-US" dirty="0" err="1"/>
              <a:t>Inserarea</a:t>
            </a:r>
            <a:r>
              <a:rPr lang="en-US" dirty="0"/>
              <a:t> </a:t>
            </a:r>
            <a:r>
              <a:rPr lang="en-US" dirty="0" err="1"/>
              <a:t>modelului</a:t>
            </a:r>
            <a:r>
              <a:rPr lang="en-US" dirty="0"/>
              <a:t> </a:t>
            </a:r>
            <a:r>
              <a:rPr lang="en-US" dirty="0" err="1"/>
              <a:t>SynthesEyes</a:t>
            </a:r>
            <a:r>
              <a:rPr lang="en-US" dirty="0"/>
              <a:t> (</a:t>
            </a:r>
            <a:r>
              <a:rPr lang="en-US" dirty="0" err="1"/>
              <a:t>Cornee</a:t>
            </a:r>
            <a:r>
              <a:rPr lang="en-US" dirty="0"/>
              <a:t>, </a:t>
            </a:r>
            <a:r>
              <a:rPr lang="en-US" dirty="0" err="1"/>
              <a:t>Scleră</a:t>
            </a:r>
            <a:r>
              <a:rPr lang="en-US" dirty="0"/>
              <a:t>, Iris, </a:t>
            </a:r>
            <a:r>
              <a:rPr lang="en-US" dirty="0" err="1"/>
              <a:t>Pupilă</a:t>
            </a:r>
            <a:r>
              <a:rPr lang="en-US" dirty="0"/>
              <a:t>). </a:t>
            </a:r>
            <a:r>
              <a:rPr lang="en-US" dirty="0" err="1"/>
              <a:t>Ajustarea</a:t>
            </a:r>
            <a:r>
              <a:rPr lang="en-US" dirty="0"/>
              <a:t> </a:t>
            </a:r>
            <a:r>
              <a:rPr lang="en-US" dirty="0" err="1"/>
              <a:t>automată</a:t>
            </a:r>
            <a:r>
              <a:rPr lang="en-US" dirty="0"/>
              <a:t> a </a:t>
            </a:r>
            <a:r>
              <a:rPr lang="en-US" dirty="0" err="1"/>
              <a:t>pleoapelor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se </a:t>
            </a:r>
            <a:r>
              <a:rPr lang="en-US" dirty="0" err="1"/>
              <a:t>mula</a:t>
            </a:r>
            <a:r>
              <a:rPr lang="en-US" dirty="0"/>
              <a:t> perfect </a:t>
            </a:r>
            <a:r>
              <a:rPr lang="en-US" dirty="0" err="1"/>
              <a:t>pe</a:t>
            </a:r>
            <a:r>
              <a:rPr lang="en-US" dirty="0"/>
              <a:t> forma </a:t>
            </a:r>
            <a:r>
              <a:rPr lang="en-US" dirty="0" err="1"/>
              <a:t>ochiului</a:t>
            </a:r>
            <a:r>
              <a:rPr lang="en-US" dirty="0"/>
              <a:t>, </a:t>
            </a:r>
            <a:r>
              <a:rPr lang="en-US" dirty="0" err="1"/>
              <a:t>eliminând</a:t>
            </a:r>
            <a:r>
              <a:rPr lang="en-US" dirty="0"/>
              <a:t> </a:t>
            </a:r>
            <a:r>
              <a:rPr lang="en-US" dirty="0" err="1"/>
              <a:t>spațiile</a:t>
            </a:r>
            <a:r>
              <a:rPr lang="en-US" dirty="0"/>
              <a:t> </a:t>
            </a:r>
            <a:r>
              <a:rPr lang="en-US" dirty="0" err="1"/>
              <a:t>goale</a:t>
            </a:r>
            <a:r>
              <a:rPr lang="en-US" dirty="0"/>
              <a:t>. </a:t>
            </a:r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detaliilor</a:t>
            </a:r>
            <a:r>
              <a:rPr lang="en-US" dirty="0"/>
              <a:t> </a:t>
            </a:r>
            <a:r>
              <a:rPr lang="en-US" dirty="0" err="1"/>
              <a:t>pielii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variații</a:t>
            </a:r>
            <a:r>
              <a:rPr lang="en-US" dirty="0"/>
              <a:t> de </a:t>
            </a:r>
            <a:r>
              <a:rPr lang="en-US" dirty="0" err="1"/>
              <a:t>culoare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iris (</a:t>
            </a:r>
            <a:r>
              <a:rPr lang="en-US" dirty="0" err="1"/>
              <a:t>albastru</a:t>
            </a:r>
            <a:r>
              <a:rPr lang="en-US" dirty="0"/>
              <a:t>, </a:t>
            </a:r>
            <a:r>
              <a:rPr lang="en-US" dirty="0" err="1"/>
              <a:t>căprui</a:t>
            </a:r>
            <a:r>
              <a:rPr lang="en-US" dirty="0"/>
              <a:t>, etc.)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scleră</a:t>
            </a:r>
            <a:r>
              <a:rPr lang="en-US" dirty="0"/>
              <a:t>.</a:t>
            </a:r>
          </a:p>
          <a:p>
            <a:r>
              <a:rPr lang="en-US" b="1" dirty="0"/>
              <a:t>3. </a:t>
            </a:r>
            <a:r>
              <a:rPr lang="en-US" b="1" dirty="0" err="1"/>
              <a:t>Configurarea</a:t>
            </a:r>
            <a:r>
              <a:rPr lang="en-US" b="1" dirty="0"/>
              <a:t> </a:t>
            </a:r>
            <a:r>
              <a:rPr lang="en-US" b="1" dirty="0" err="1"/>
              <a:t>Scenei</a:t>
            </a:r>
            <a:r>
              <a:rPr lang="en-US" b="1" dirty="0"/>
              <a:t> (</a:t>
            </a:r>
            <a:r>
              <a:rPr lang="en-US" b="1" dirty="0" err="1"/>
              <a:t>Variabilitate</a:t>
            </a:r>
            <a:r>
              <a:rPr lang="en-US" b="1" dirty="0"/>
              <a:t>) – </a:t>
            </a:r>
            <a:r>
              <a:rPr lang="en-US" dirty="0" err="1"/>
              <a:t>Iluminare</a:t>
            </a:r>
            <a:r>
              <a:rPr lang="en-US" dirty="0"/>
              <a:t>, </a:t>
            </a:r>
            <a:r>
              <a:rPr lang="en-US" dirty="0" err="1"/>
              <a:t>pozitionarea</a:t>
            </a:r>
            <a:r>
              <a:rPr lang="en-US" dirty="0"/>
              <a:t> </a:t>
            </a:r>
            <a:r>
              <a:rPr lang="en-US" dirty="0" err="1"/>
              <a:t>camerei</a:t>
            </a:r>
            <a:r>
              <a:rPr lang="en-US" dirty="0"/>
              <a:t>, </a:t>
            </a:r>
            <a:r>
              <a:rPr lang="en-US" dirty="0" err="1"/>
              <a:t>pozitia</a:t>
            </a:r>
            <a:r>
              <a:rPr lang="en-US" dirty="0"/>
              <a:t> </a:t>
            </a:r>
            <a:r>
              <a:rPr lang="en-US" dirty="0" err="1"/>
              <a:t>capului</a:t>
            </a:r>
            <a:r>
              <a:rPr lang="en-US" dirty="0"/>
              <a:t>, directia </a:t>
            </a:r>
            <a:r>
              <a:rPr lang="en-US" dirty="0" err="1"/>
              <a:t>privirii</a:t>
            </a:r>
            <a:r>
              <a:rPr lang="en-US" dirty="0"/>
              <a:t>, </a:t>
            </a:r>
            <a:r>
              <a:rPr lang="en-US" dirty="0" err="1"/>
              <a:t>miscarea</a:t>
            </a:r>
            <a:r>
              <a:rPr lang="en-US" dirty="0"/>
              <a:t> </a:t>
            </a:r>
            <a:r>
              <a:rPr lang="en-US" dirty="0" err="1"/>
              <a:t>ploapelor</a:t>
            </a:r>
            <a:r>
              <a:rPr lang="en-US" dirty="0"/>
              <a:t>.</a:t>
            </a:r>
          </a:p>
          <a:p>
            <a:r>
              <a:rPr lang="it-IT" dirty="0"/>
              <a:t>4. </a:t>
            </a:r>
            <a:r>
              <a:rPr lang="it-IT" b="1" dirty="0"/>
              <a:t>Randare și Adnotare - </a:t>
            </a:r>
            <a:r>
              <a:rPr lang="en-US" dirty="0" err="1"/>
              <a:t>Generarea</a:t>
            </a:r>
            <a:r>
              <a:rPr lang="en-US" dirty="0"/>
              <a:t> </a:t>
            </a:r>
            <a:r>
              <a:rPr lang="en-US" dirty="0" err="1"/>
              <a:t>imaginii</a:t>
            </a:r>
            <a:r>
              <a:rPr lang="en-US" dirty="0"/>
              <a:t> </a:t>
            </a:r>
            <a:r>
              <a:rPr lang="en-US" dirty="0" err="1"/>
              <a:t>fotorealiste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i="1" dirty="0"/>
              <a:t>Path Tracing</a:t>
            </a:r>
            <a:r>
              <a:rPr lang="en-US" dirty="0"/>
              <a:t> (Blender Cycles) + </a:t>
            </a:r>
            <a:r>
              <a:rPr lang="en-US" dirty="0" err="1"/>
              <a:t>proiectare</a:t>
            </a:r>
            <a:r>
              <a:rPr lang="en-US" dirty="0"/>
              <a:t> landmarks</a:t>
            </a:r>
          </a:p>
        </p:txBody>
      </p:sp>
    </p:spTree>
    <p:extLst>
      <p:ext uri="{BB962C8B-B14F-4D97-AF65-F5344CB8AC3E}">
        <p14:creationId xmlns:p14="http://schemas.microsoft.com/office/powerpoint/2010/main" val="1666488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93"/>
          <a:stretch/>
        </p:blipFill>
        <p:spPr>
          <a:xfrm>
            <a:off x="2407654" y="766300"/>
            <a:ext cx="7373516" cy="282632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78" y="4003507"/>
            <a:ext cx="10539682" cy="191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85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11518"/>
          </a:xfrm>
        </p:spPr>
        <p:txBody>
          <a:bodyPr/>
          <a:lstStyle/>
          <a:p>
            <a:pPr algn="ctr"/>
            <a:r>
              <a:rPr lang="en-US"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13164"/>
            <a:ext cx="9905999" cy="4378037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Volum</a:t>
            </a:r>
            <a:r>
              <a:rPr lang="en-US" dirty="0"/>
              <a:t> de 11.382 </a:t>
            </a:r>
            <a:r>
              <a:rPr lang="en-US" dirty="0" err="1"/>
              <a:t>imagini</a:t>
            </a:r>
            <a:r>
              <a:rPr lang="en-US" dirty="0"/>
              <a:t> cu </a:t>
            </a:r>
            <a:r>
              <a:rPr lang="en-US" dirty="0" err="1"/>
              <a:t>dimensiune</a:t>
            </a:r>
            <a:r>
              <a:rPr lang="en-US" dirty="0"/>
              <a:t> </a:t>
            </a:r>
            <a:r>
              <a:rPr lang="en-US" dirty="0" err="1"/>
              <a:t>fixa</a:t>
            </a:r>
            <a:r>
              <a:rPr lang="en-US" dirty="0"/>
              <a:t> de 120x80px, 10 </a:t>
            </a:r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(5 feminine + 5 masculine), </a:t>
            </a:r>
            <a:r>
              <a:rPr lang="en-US" dirty="0" err="1"/>
              <a:t>fiecare</a:t>
            </a:r>
            <a:r>
              <a:rPr lang="en-US" dirty="0"/>
              <a:t> imagine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insotita</a:t>
            </a:r>
            <a:r>
              <a:rPr lang="en-US" dirty="0"/>
              <a:t> de un </a:t>
            </a:r>
            <a:r>
              <a:rPr lang="en-US" dirty="0" err="1"/>
              <a:t>fisier</a:t>
            </a:r>
            <a:r>
              <a:rPr lang="en-US" dirty="0"/>
              <a:t> .</a:t>
            </a:r>
            <a:r>
              <a:rPr lang="en-US" dirty="0" err="1"/>
              <a:t>pkl</a:t>
            </a:r>
            <a:r>
              <a:rPr lang="en-US" dirty="0"/>
              <a:t>, </a:t>
            </a:r>
            <a:r>
              <a:rPr lang="en-US" dirty="0" err="1"/>
              <a:t>reprezentand</a:t>
            </a:r>
            <a:r>
              <a:rPr lang="en-US" dirty="0"/>
              <a:t> </a:t>
            </a:r>
            <a:r>
              <a:rPr lang="en-US" dirty="0" err="1"/>
              <a:t>informatiile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generare</a:t>
            </a:r>
            <a:r>
              <a:rPr lang="en-US" dirty="0"/>
              <a:t> (ground truth).</a:t>
            </a:r>
          </a:p>
          <a:p>
            <a:pPr marL="0" indent="0">
              <a:buNone/>
            </a:pPr>
            <a:r>
              <a:rPr lang="en-US" dirty="0" err="1"/>
              <a:t>Continut</a:t>
            </a:r>
            <a:r>
              <a:rPr lang="en-US" dirty="0"/>
              <a:t> </a:t>
            </a:r>
            <a:r>
              <a:rPr lang="en-US" dirty="0" err="1"/>
              <a:t>fisiere</a:t>
            </a:r>
            <a:r>
              <a:rPr lang="en-US" dirty="0"/>
              <a:t> .</a:t>
            </a:r>
            <a:r>
              <a:rPr lang="en-US" dirty="0" err="1"/>
              <a:t>pkl</a:t>
            </a:r>
            <a:r>
              <a:rPr lang="en-US" dirty="0"/>
              <a:t>:</a:t>
            </a:r>
          </a:p>
          <a:p>
            <a:r>
              <a:rPr lang="en-US" dirty="0" err="1"/>
              <a:t>head_pose</a:t>
            </a:r>
            <a:r>
              <a:rPr lang="en-US" dirty="0"/>
              <a:t>: </a:t>
            </a:r>
            <a:r>
              <a:rPr lang="en-US" dirty="0" err="1"/>
              <a:t>Matrice</a:t>
            </a:r>
            <a:r>
              <a:rPr lang="en-US" dirty="0"/>
              <a:t> de </a:t>
            </a:r>
            <a:r>
              <a:rPr lang="en-US" dirty="0" err="1"/>
              <a:t>rotație</a:t>
            </a:r>
            <a:r>
              <a:rPr lang="en-US" dirty="0"/>
              <a:t> 3x3 a </a:t>
            </a:r>
            <a:r>
              <a:rPr lang="en-US" dirty="0" err="1"/>
              <a:t>capului</a:t>
            </a:r>
            <a:r>
              <a:rPr lang="en-US" dirty="0"/>
              <a:t>.</a:t>
            </a:r>
          </a:p>
          <a:p>
            <a:r>
              <a:rPr lang="en-US" dirty="0" err="1"/>
              <a:t>look_vec</a:t>
            </a:r>
            <a:r>
              <a:rPr lang="en-US" dirty="0"/>
              <a:t>: </a:t>
            </a:r>
            <a:r>
              <a:rPr lang="en-US" dirty="0" err="1"/>
              <a:t>Vectorul</a:t>
            </a:r>
            <a:r>
              <a:rPr lang="en-US" dirty="0"/>
              <a:t> de </a:t>
            </a:r>
            <a:r>
              <a:rPr lang="en-US" dirty="0" err="1"/>
              <a:t>privire</a:t>
            </a:r>
            <a:r>
              <a:rPr lang="en-US" dirty="0"/>
              <a:t> 3D (</a:t>
            </a:r>
            <a:r>
              <a:rPr lang="en-US" dirty="0" err="1"/>
              <a:t>direcția</a:t>
            </a:r>
            <a:r>
              <a:rPr lang="en-US" dirty="0"/>
              <a:t> </a:t>
            </a:r>
            <a:r>
              <a:rPr lang="en-US" dirty="0" err="1"/>
              <a:t>privirii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spațiul</a:t>
            </a:r>
            <a:r>
              <a:rPr lang="en-US" dirty="0"/>
              <a:t> </a:t>
            </a:r>
            <a:r>
              <a:rPr lang="en-US" dirty="0" err="1"/>
              <a:t>camerei</a:t>
            </a:r>
            <a:r>
              <a:rPr lang="en-US" dirty="0"/>
              <a:t>).</a:t>
            </a:r>
          </a:p>
          <a:p>
            <a:r>
              <a:rPr lang="en-US" dirty="0" err="1"/>
              <a:t>ldmks</a:t>
            </a:r>
            <a:r>
              <a:rPr lang="en-US" dirty="0"/>
              <a:t>: </a:t>
            </a:r>
            <a:r>
              <a:rPr lang="en-US" dirty="0" err="1"/>
              <a:t>Repere</a:t>
            </a:r>
            <a:r>
              <a:rPr lang="en-US" dirty="0"/>
              <a:t> 2D </a:t>
            </a:r>
            <a:r>
              <a:rPr lang="en-US" dirty="0" err="1"/>
              <a:t>și</a:t>
            </a:r>
            <a:r>
              <a:rPr lang="en-US" dirty="0"/>
              <a:t> 3D (</a:t>
            </a:r>
            <a:r>
              <a:rPr lang="en-US" dirty="0" err="1"/>
              <a:t>pleoape</a:t>
            </a:r>
            <a:r>
              <a:rPr lang="en-US" dirty="0"/>
              <a:t>, iris, </a:t>
            </a:r>
            <a:r>
              <a:rPr lang="en-US" dirty="0" err="1"/>
              <a:t>pupilă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05146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10661"/>
          </a:xfrm>
        </p:spPr>
        <p:txBody>
          <a:bodyPr/>
          <a:lstStyle/>
          <a:p>
            <a:pPr algn="ctr"/>
            <a:r>
              <a:rPr lang="en-US" dirty="0"/>
              <a:t>Exploratory data analysis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92" y="1630534"/>
            <a:ext cx="5325222" cy="378589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84" y="1630534"/>
            <a:ext cx="5486853" cy="365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62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85409"/>
          </a:xfrm>
        </p:spPr>
        <p:txBody>
          <a:bodyPr/>
          <a:lstStyle/>
          <a:p>
            <a:pPr algn="ctr"/>
            <a:r>
              <a:rPr lang="en-US" dirty="0"/>
              <a:t>Exploratory data analysis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084" y="1403927"/>
            <a:ext cx="4924569" cy="491755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12" y="1403927"/>
            <a:ext cx="4856024" cy="491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138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85409"/>
          </a:xfrm>
        </p:spPr>
        <p:txBody>
          <a:bodyPr/>
          <a:lstStyle/>
          <a:p>
            <a:pPr algn="ctr"/>
            <a:r>
              <a:rPr lang="en-US" dirty="0" err="1"/>
              <a:t>Experimente</a:t>
            </a:r>
            <a:r>
              <a:rPr lang="en-US" dirty="0"/>
              <a:t> – 1. Gaze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330036"/>
            <a:ext cx="9905999" cy="52832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Scop</a:t>
            </a:r>
            <a:r>
              <a:rPr lang="en-US" dirty="0"/>
              <a:t>: </a:t>
            </a:r>
            <a:r>
              <a:rPr lang="en-US" dirty="0" err="1"/>
              <a:t>Antrenarea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CNN care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primeasca</a:t>
            </a:r>
            <a:r>
              <a:rPr lang="en-US" dirty="0"/>
              <a:t> o imagine cu un </a:t>
            </a:r>
            <a:r>
              <a:rPr lang="en-US" dirty="0" err="1"/>
              <a:t>ochi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prezica</a:t>
            </a:r>
            <a:r>
              <a:rPr lang="en-US" dirty="0"/>
              <a:t> </a:t>
            </a:r>
            <a:r>
              <a:rPr lang="en-US" dirty="0" err="1"/>
              <a:t>vectorul</a:t>
            </a:r>
            <a:r>
              <a:rPr lang="en-US" dirty="0"/>
              <a:t> </a:t>
            </a:r>
            <a:r>
              <a:rPr lang="en-US" dirty="0" err="1"/>
              <a:t>privirii</a:t>
            </a:r>
            <a:r>
              <a:rPr lang="en-US" dirty="0"/>
              <a:t> (</a:t>
            </a:r>
            <a:r>
              <a:rPr lang="en-US" dirty="0" err="1"/>
              <a:t>problema</a:t>
            </a:r>
            <a:r>
              <a:rPr lang="en-US" dirty="0"/>
              <a:t> de </a:t>
            </a:r>
            <a:r>
              <a:rPr lang="en-US" dirty="0" err="1"/>
              <a:t>regresie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Model: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</a:t>
            </a:r>
            <a:r>
              <a:rPr lang="en-US" dirty="0" err="1"/>
              <a:t>arhitectura</a:t>
            </a:r>
            <a:r>
              <a:rPr lang="en-US" dirty="0"/>
              <a:t> ResNet-18, </a:t>
            </a:r>
            <a:r>
              <a:rPr lang="en-US" dirty="0" err="1"/>
              <a:t>adaptata</a:t>
            </a:r>
            <a:r>
              <a:rPr lang="en-US" dirty="0"/>
              <a:t> la final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regresie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Necesar</a:t>
            </a:r>
            <a:r>
              <a:rPr lang="en-US" dirty="0"/>
              <a:t> de </a:t>
            </a:r>
            <a:r>
              <a:rPr lang="en-US" dirty="0" err="1"/>
              <a:t>calcul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- Un GPU standard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suficient</a:t>
            </a:r>
            <a:r>
              <a:rPr lang="en-US" dirty="0"/>
              <a:t> (ex: NVIDIA T4 </a:t>
            </a:r>
            <a:r>
              <a:rPr lang="en-US" dirty="0" err="1"/>
              <a:t>pe</a:t>
            </a:r>
            <a:r>
              <a:rPr lang="en-US" dirty="0"/>
              <a:t> Google </a:t>
            </a:r>
            <a:r>
              <a:rPr lang="en-US" dirty="0" err="1"/>
              <a:t>Colab</a:t>
            </a:r>
            <a:r>
              <a:rPr lang="en-US" dirty="0"/>
              <a:t> Free).</a:t>
            </a:r>
          </a:p>
          <a:p>
            <a:pPr>
              <a:buFontTx/>
              <a:buChar char="-"/>
            </a:pPr>
            <a:r>
              <a:rPr lang="pt-BR" dirty="0"/>
              <a:t>Memorie (VRAM): Aproximativ 4-6 GB pentru a ține modelul și batch-urile de imagini.</a:t>
            </a:r>
          </a:p>
          <a:p>
            <a:pPr>
              <a:buFontTx/>
              <a:buChar char="-"/>
            </a:pPr>
            <a:r>
              <a:rPr lang="en-US" dirty="0" err="1"/>
              <a:t>Memorie</a:t>
            </a:r>
            <a:r>
              <a:rPr lang="en-US" dirty="0"/>
              <a:t> (RAM): ~8-12 GB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încărcarea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.</a:t>
            </a:r>
          </a:p>
          <a:p>
            <a:pPr>
              <a:buFontTx/>
              <a:buChar char="-"/>
            </a:pPr>
            <a:r>
              <a:rPr lang="en-US" dirty="0" err="1"/>
              <a:t>Timp</a:t>
            </a:r>
            <a:r>
              <a:rPr lang="en-US" dirty="0"/>
              <a:t>: </a:t>
            </a:r>
            <a:r>
              <a:rPr lang="en-US" dirty="0" err="1"/>
              <a:t>Fiind</a:t>
            </a:r>
            <a:r>
              <a:rPr lang="en-US" dirty="0"/>
              <a:t> date </a:t>
            </a:r>
            <a:r>
              <a:rPr lang="en-US" dirty="0" err="1"/>
              <a:t>sintetice</a:t>
            </a:r>
            <a:r>
              <a:rPr lang="en-US" dirty="0"/>
              <a:t> curate,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trebui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conveargă</a:t>
            </a:r>
            <a:r>
              <a:rPr lang="en-US" dirty="0"/>
              <a:t> rapid (2-4 ore).</a:t>
            </a:r>
          </a:p>
        </p:txBody>
      </p:sp>
    </p:spTree>
    <p:extLst>
      <p:ext uri="{BB962C8B-B14F-4D97-AF65-F5344CB8AC3E}">
        <p14:creationId xmlns:p14="http://schemas.microsoft.com/office/powerpoint/2010/main" val="213890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Experimente</a:t>
            </a:r>
            <a:r>
              <a:rPr lang="en-US" dirty="0"/>
              <a:t> – 1. Gaze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Metrică</a:t>
            </a:r>
            <a:r>
              <a:rPr lang="en-US" dirty="0"/>
              <a:t>: </a:t>
            </a:r>
            <a:r>
              <a:rPr lang="en-US" dirty="0" err="1"/>
              <a:t>Eroarea</a:t>
            </a:r>
            <a:r>
              <a:rPr lang="en-US" dirty="0"/>
              <a:t> </a:t>
            </a:r>
            <a:r>
              <a:rPr lang="en-US" dirty="0" err="1"/>
              <a:t>Unghiulară</a:t>
            </a:r>
            <a:r>
              <a:rPr lang="en-US" dirty="0"/>
              <a:t> </a:t>
            </a:r>
            <a:r>
              <a:rPr lang="en-US" dirty="0" err="1"/>
              <a:t>Medie</a:t>
            </a:r>
            <a:r>
              <a:rPr lang="en-US" dirty="0"/>
              <a:t> (Mean Angular Error) </a:t>
            </a:r>
            <a:r>
              <a:rPr lang="en-US" dirty="0" err="1"/>
              <a:t>măsurată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grade.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metrica</a:t>
            </a:r>
            <a:r>
              <a:rPr lang="en-US" dirty="0"/>
              <a:t> standard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industrie</a:t>
            </a:r>
            <a:r>
              <a:rPr lang="en-US" dirty="0"/>
              <a:t>. </a:t>
            </a:r>
            <a:r>
              <a:rPr lang="en-US" dirty="0" err="1"/>
              <a:t>Calculăm</a:t>
            </a:r>
            <a:r>
              <a:rPr lang="en-US" dirty="0"/>
              <a:t> </a:t>
            </a:r>
            <a:r>
              <a:rPr lang="en-US" dirty="0" err="1"/>
              <a:t>diferența</a:t>
            </a:r>
            <a:r>
              <a:rPr lang="en-US" dirty="0"/>
              <a:t> de </a:t>
            </a:r>
            <a:r>
              <a:rPr lang="en-US" dirty="0" err="1"/>
              <a:t>unghi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vectorul</a:t>
            </a:r>
            <a:r>
              <a:rPr lang="en-US" dirty="0"/>
              <a:t> </a:t>
            </a:r>
            <a:r>
              <a:rPr lang="en-US" dirty="0" err="1"/>
              <a:t>prezis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real.</a:t>
            </a:r>
          </a:p>
          <a:p>
            <a:r>
              <a:rPr lang="en-US" dirty="0" err="1"/>
              <a:t>Comparație</a:t>
            </a:r>
            <a:r>
              <a:rPr lang="en-US" dirty="0"/>
              <a:t>: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compara</a:t>
            </a:r>
            <a:r>
              <a:rPr lang="en-US" dirty="0"/>
              <a:t> </a:t>
            </a:r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noastre</a:t>
            </a:r>
            <a:r>
              <a:rPr lang="en-US" dirty="0"/>
              <a:t> cu </a:t>
            </a:r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raportate</a:t>
            </a:r>
            <a:r>
              <a:rPr lang="en-US" dirty="0"/>
              <a:t> </a:t>
            </a:r>
            <a:r>
              <a:rPr lang="en-US" dirty="0" err="1"/>
              <a:t>oficial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paper-</a:t>
            </a:r>
            <a:r>
              <a:rPr lang="en-US" dirty="0" err="1"/>
              <a:t>ul</a:t>
            </a:r>
            <a:r>
              <a:rPr lang="en-US" dirty="0"/>
              <a:t> </a:t>
            </a:r>
            <a:r>
              <a:rPr lang="en-US" dirty="0" err="1"/>
              <a:t>SynthesEyes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1700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0682"/>
          </a:xfrm>
        </p:spPr>
        <p:txBody>
          <a:bodyPr/>
          <a:lstStyle/>
          <a:p>
            <a:pPr algn="ctr"/>
            <a:r>
              <a:rPr lang="en-US" dirty="0" err="1"/>
              <a:t>Experimente</a:t>
            </a:r>
            <a:r>
              <a:rPr lang="en-US" dirty="0"/>
              <a:t> – 2. Data Efficiency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219200"/>
            <a:ext cx="9905999" cy="5412509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Problemă</a:t>
            </a:r>
            <a:r>
              <a:rPr lang="en-US" dirty="0"/>
              <a:t> </a:t>
            </a:r>
            <a:r>
              <a:rPr lang="en-US" dirty="0" err="1"/>
              <a:t>fundamentală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istoria</a:t>
            </a:r>
            <a:r>
              <a:rPr lang="en-US" dirty="0"/>
              <a:t> </a:t>
            </a:r>
            <a:r>
              <a:rPr lang="en-US" dirty="0" err="1"/>
              <a:t>dezvoltării</a:t>
            </a:r>
            <a:r>
              <a:rPr lang="en-US" dirty="0"/>
              <a:t> </a:t>
            </a:r>
            <a:r>
              <a:rPr lang="en-US" dirty="0" err="1"/>
              <a:t>mașinilor</a:t>
            </a:r>
            <a:r>
              <a:rPr lang="en-US" dirty="0"/>
              <a:t> </a:t>
            </a:r>
            <a:r>
              <a:rPr lang="en-US" dirty="0" err="1"/>
              <a:t>inteligente</a:t>
            </a:r>
            <a:r>
              <a:rPr lang="en-US" dirty="0"/>
              <a:t>: </a:t>
            </a:r>
            <a:r>
              <a:rPr lang="en-US" dirty="0" err="1"/>
              <a:t>raportul</a:t>
            </a:r>
            <a:r>
              <a:rPr lang="en-US" dirty="0"/>
              <a:t> cost-</a:t>
            </a:r>
            <a:r>
              <a:rPr lang="en-US" dirty="0" err="1"/>
              <a:t>beneficiu</a:t>
            </a:r>
            <a:r>
              <a:rPr lang="en-US" dirty="0"/>
              <a:t> al </a:t>
            </a:r>
            <a:r>
              <a:rPr lang="en-US" dirty="0" err="1"/>
              <a:t>datelor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Vom</a:t>
            </a:r>
            <a:r>
              <a:rPr lang="en-US" dirty="0"/>
              <a:t> face 4 </a:t>
            </a:r>
            <a:r>
              <a:rPr lang="en-US" dirty="0" err="1"/>
              <a:t>sesiuni</a:t>
            </a:r>
            <a:r>
              <a:rPr lang="en-US" dirty="0"/>
              <a:t> de </a:t>
            </a:r>
            <a:r>
              <a:rPr lang="en-US" dirty="0" err="1"/>
              <a:t>antrenare</a:t>
            </a:r>
            <a:r>
              <a:rPr lang="en-US" dirty="0"/>
              <a:t> (10%, 25%, 50%, 75%)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urmari</a:t>
            </a:r>
            <a:r>
              <a:rPr lang="en-US" dirty="0"/>
              <a:t> </a:t>
            </a:r>
            <a:r>
              <a:rPr lang="en-US" dirty="0" err="1"/>
              <a:t>curba</a:t>
            </a:r>
            <a:r>
              <a:rPr lang="en-US" dirty="0"/>
              <a:t> de </a:t>
            </a:r>
            <a:r>
              <a:rPr lang="en-US" dirty="0" err="1"/>
              <a:t>invatare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Model: </a:t>
            </a:r>
            <a:r>
              <a:rPr lang="en-US" dirty="0" err="1"/>
              <a:t>arhitectura</a:t>
            </a:r>
            <a:r>
              <a:rPr lang="en-US" dirty="0"/>
              <a:t> ResNet-18 </a:t>
            </a:r>
            <a:r>
              <a:rPr lang="en-US" dirty="0" err="1"/>
              <a:t>sau</a:t>
            </a:r>
            <a:r>
              <a:rPr lang="en-US" dirty="0"/>
              <a:t> un CNN </a:t>
            </a:r>
            <a:r>
              <a:rPr lang="en-US" dirty="0" err="1"/>
              <a:t>simplu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GPU: Un GPU standard (NVIDIA T4 </a:t>
            </a:r>
            <a:r>
              <a:rPr lang="en-US" dirty="0" err="1"/>
              <a:t>pe</a:t>
            </a:r>
            <a:r>
              <a:rPr lang="en-US" dirty="0"/>
              <a:t> Google </a:t>
            </a:r>
            <a:r>
              <a:rPr lang="en-US" dirty="0" err="1"/>
              <a:t>Colab</a:t>
            </a:r>
            <a:r>
              <a:rPr lang="en-US" dirty="0"/>
              <a:t> Free)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suficient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Memorie</a:t>
            </a:r>
            <a:r>
              <a:rPr lang="en-US" dirty="0"/>
              <a:t> (RAM): 8-12 GB (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putea</a:t>
            </a:r>
            <a:r>
              <a:rPr lang="en-US" dirty="0"/>
              <a:t> </a:t>
            </a:r>
            <a:r>
              <a:rPr lang="en-US" dirty="0" err="1"/>
              <a:t>încărca</a:t>
            </a:r>
            <a:r>
              <a:rPr lang="en-US" dirty="0"/>
              <a:t> tot </a:t>
            </a:r>
            <a:r>
              <a:rPr lang="en-US" dirty="0" err="1"/>
              <a:t>setul</a:t>
            </a:r>
            <a:r>
              <a:rPr lang="en-US" dirty="0"/>
              <a:t> de date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memorie</a:t>
            </a:r>
            <a:r>
              <a:rPr lang="en-US" dirty="0"/>
              <a:t> la ultima </a:t>
            </a:r>
            <a:r>
              <a:rPr lang="en-US" dirty="0" err="1"/>
              <a:t>iterație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80428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Bibliografie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https://www.cl.cam.ac.uk/research/rainbow/projects/syntheseyes/</a:t>
            </a:r>
            <a:endParaRPr lang="en-US" dirty="0"/>
          </a:p>
          <a:p>
            <a:r>
              <a:rPr lang="en-US" dirty="0">
                <a:hlinkClick r:id="rId3"/>
              </a:rPr>
              <a:t>https://ieeexplore.ieee.org/document/7410785/</a:t>
            </a:r>
            <a:endParaRPr lang="en-US" dirty="0"/>
          </a:p>
          <a:p>
            <a:r>
              <a:rPr lang="en-US" dirty="0">
                <a:hlinkClick r:id="rId4"/>
              </a:rPr>
              <a:t>https://www.repository.cam.ac.uk/items/f9464c88-5797-4f28-824c-10003a9704f7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311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90</TotalTime>
  <Words>808</Words>
  <Application>Microsoft Macintosh PowerPoint</Application>
  <PresentationFormat>Widescreen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 Syntheyes dataset</vt:lpstr>
      <vt:lpstr>Problema - Provocarile Datelor Reale</vt:lpstr>
      <vt:lpstr>Solutia: Modelul syntheseyes</vt:lpstr>
      <vt:lpstr>Studii similare</vt:lpstr>
      <vt:lpstr>Cum functioneaza modelul syntheseyes? </vt:lpstr>
      <vt:lpstr>PowerPoint Presentation</vt:lpstr>
      <vt:lpstr>Exploratory data analysis</vt:lpstr>
      <vt:lpstr>Exploratory data analysis</vt:lpstr>
      <vt:lpstr>Exploratory data analysis</vt:lpstr>
      <vt:lpstr>Experimente – 1. Gaze estimation</vt:lpstr>
      <vt:lpstr>Experimente – 1. Gaze estimation</vt:lpstr>
      <vt:lpstr>Experimente – 2. Data Efficiency Study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Syntheyes dataset</dc:title>
  <dc:creator>Agu</dc:creator>
  <cp:lastModifiedBy>TUDOR-FLORIAN APOSTOL</cp:lastModifiedBy>
  <cp:revision>28</cp:revision>
  <dcterms:created xsi:type="dcterms:W3CDTF">2025-12-10T20:52:33Z</dcterms:created>
  <dcterms:modified xsi:type="dcterms:W3CDTF">2025-12-11T22:34:57Z</dcterms:modified>
</cp:coreProperties>
</file>