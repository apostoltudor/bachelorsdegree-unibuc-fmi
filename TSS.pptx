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6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0893"/>
    <p:restoredTop sz="96327"/>
  </p:normalViewPr>
  <p:slideViewPr>
    <p:cSldViewPr snapToGrid="0" snapToObjects="1">
      <p:cViewPr varScale="1">
        <p:scale>
          <a:sx n="53" d="100"/>
          <a:sy n="53" d="100"/>
        </p:scale>
        <p:origin x="208" y="2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D0907-21E7-4D43-B8B7-615CD73666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T3 - </a:t>
            </a:r>
            <a:r>
              <a:rPr lang="en-US" dirty="0" err="1"/>
              <a:t>Testare</a:t>
            </a:r>
            <a:r>
              <a:rPr lang="en-US" dirty="0"/>
              <a:t> </a:t>
            </a:r>
            <a:r>
              <a:rPr lang="en-US" dirty="0" err="1"/>
              <a:t>Unitară</a:t>
            </a:r>
            <a:r>
              <a:rPr lang="en-US" dirty="0"/>
              <a:t> </a:t>
            </a:r>
            <a:r>
              <a:rPr lang="en-US" dirty="0" err="1"/>
              <a:t>în</a:t>
            </a:r>
            <a:r>
              <a:rPr lang="en-US" dirty="0"/>
              <a:t> Java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A53410-271C-0048-B0C2-FE5028047E8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Aplicarea</a:t>
            </a:r>
            <a:r>
              <a:rPr lang="en-US" dirty="0"/>
              <a:t> </a:t>
            </a:r>
            <a:r>
              <a:rPr lang="en-US" dirty="0" err="1"/>
              <a:t>tehnicilor</a:t>
            </a:r>
            <a:r>
              <a:rPr lang="en-US" dirty="0"/>
              <a:t> de </a:t>
            </a:r>
            <a:r>
              <a:rPr lang="en-US" dirty="0" err="1"/>
              <a:t>testare</a:t>
            </a:r>
            <a:r>
              <a:rPr lang="en-US" dirty="0"/>
              <a:t> </a:t>
            </a:r>
            <a:r>
              <a:rPr lang="en-US" dirty="0" err="1"/>
              <a:t>funcțională</a:t>
            </a:r>
            <a:r>
              <a:rPr lang="en-US" dirty="0"/>
              <a:t>, </a:t>
            </a:r>
            <a:r>
              <a:rPr lang="en-US" dirty="0" err="1"/>
              <a:t>structurală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bazată</a:t>
            </a:r>
            <a:r>
              <a:rPr lang="en-US" dirty="0"/>
              <a:t> pe </a:t>
            </a:r>
            <a:r>
              <a:rPr lang="en-US" dirty="0" err="1"/>
              <a:t>mutanți</a:t>
            </a:r>
            <a:endParaRPr lang="en-US" dirty="0"/>
          </a:p>
          <a:p>
            <a:r>
              <a:rPr lang="en-US" dirty="0"/>
              <a:t>Apostol Tudor – </a:t>
            </a:r>
            <a:r>
              <a:rPr lang="en-US" dirty="0" err="1"/>
              <a:t>Buscoveanu</a:t>
            </a:r>
            <a:r>
              <a:rPr lang="en-US" dirty="0"/>
              <a:t> Victor</a:t>
            </a:r>
          </a:p>
        </p:txBody>
      </p:sp>
    </p:spTree>
    <p:extLst>
      <p:ext uri="{BB962C8B-B14F-4D97-AF65-F5344CB8AC3E}">
        <p14:creationId xmlns:p14="http://schemas.microsoft.com/office/powerpoint/2010/main" val="2384909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E9ADA-E6A1-924D-A0EB-9D911365E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Obiectivul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Contextul</a:t>
            </a:r>
            <a:r>
              <a:rPr lang="en-US" dirty="0"/>
              <a:t> </a:t>
            </a:r>
            <a:r>
              <a:rPr lang="en-US" dirty="0" err="1"/>
              <a:t>Proiectului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131874-D2D0-EB4E-A08D-1C6D6FA55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• Scop: </a:t>
            </a:r>
            <a:r>
              <a:rPr lang="en-US" dirty="0" err="1"/>
              <a:t>Crearea</a:t>
            </a:r>
            <a:r>
              <a:rPr lang="en-US" dirty="0"/>
              <a:t> </a:t>
            </a:r>
            <a:r>
              <a:rPr lang="en-US" dirty="0" err="1"/>
              <a:t>unei</a:t>
            </a:r>
            <a:r>
              <a:rPr lang="en-US" dirty="0"/>
              <a:t> suite exhaustive de teste </a:t>
            </a:r>
            <a:r>
              <a:rPr lang="en-US" dirty="0" err="1"/>
              <a:t>unitare</a:t>
            </a:r>
            <a:r>
              <a:rPr lang="en-US" dirty="0"/>
              <a:t> care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garanteze</a:t>
            </a:r>
            <a:r>
              <a:rPr lang="en-US" dirty="0"/>
              <a:t> </a:t>
            </a:r>
            <a:r>
              <a:rPr lang="en-US" dirty="0" err="1"/>
              <a:t>calitatea</a:t>
            </a:r>
            <a:r>
              <a:rPr lang="en-US" dirty="0"/>
              <a:t> </a:t>
            </a:r>
            <a:r>
              <a:rPr lang="en-US" dirty="0" err="1"/>
              <a:t>structurala</a:t>
            </a:r>
            <a:r>
              <a:rPr lang="en-US" dirty="0"/>
              <a:t> a </a:t>
            </a:r>
            <a:r>
              <a:rPr lang="en-US" dirty="0" err="1"/>
              <a:t>unei</a:t>
            </a:r>
            <a:r>
              <a:rPr lang="en-US" dirty="0"/>
              <a:t> </a:t>
            </a:r>
            <a:r>
              <a:rPr lang="en-US" dirty="0" err="1"/>
              <a:t>functii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Strategii</a:t>
            </a:r>
            <a:r>
              <a:rPr lang="en-US" dirty="0"/>
              <a:t> </a:t>
            </a:r>
            <a:r>
              <a:rPr lang="en-US" dirty="0" err="1"/>
              <a:t>aplicate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Evaluare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- </a:t>
            </a:r>
            <a:r>
              <a:rPr lang="en-US" dirty="0" err="1"/>
              <a:t>Functionale</a:t>
            </a:r>
            <a:r>
              <a:rPr lang="en-US" dirty="0"/>
              <a:t> (Black-Box Testing)</a:t>
            </a:r>
          </a:p>
          <a:p>
            <a:pPr marL="0" indent="0">
              <a:buNone/>
            </a:pPr>
            <a:r>
              <a:rPr lang="en-US" dirty="0"/>
              <a:t>   - </a:t>
            </a:r>
            <a:r>
              <a:rPr lang="en-US" dirty="0" err="1"/>
              <a:t>Structurale</a:t>
            </a:r>
            <a:r>
              <a:rPr lang="en-US" dirty="0"/>
              <a:t> (White-Box) </a:t>
            </a:r>
            <a:r>
              <a:rPr lang="en-US" dirty="0" err="1"/>
              <a:t>inclusiv</a:t>
            </a:r>
            <a:r>
              <a:rPr lang="en-US" dirty="0"/>
              <a:t> schema MC/DC</a:t>
            </a:r>
          </a:p>
          <a:p>
            <a:pPr marL="0" indent="0">
              <a:buNone/>
            </a:pPr>
            <a:r>
              <a:rPr lang="en-US" dirty="0"/>
              <a:t>   - </a:t>
            </a:r>
            <a:r>
              <a:rPr lang="en-US" dirty="0" err="1"/>
              <a:t>Analiza</a:t>
            </a:r>
            <a:r>
              <a:rPr lang="en-US" dirty="0"/>
              <a:t> </a:t>
            </a:r>
            <a:r>
              <a:rPr lang="en-US" dirty="0" err="1"/>
              <a:t>Calitatii</a:t>
            </a:r>
            <a:r>
              <a:rPr lang="en-US" dirty="0"/>
              <a:t> </a:t>
            </a:r>
            <a:r>
              <a:rPr lang="en-US" dirty="0" err="1"/>
              <a:t>Testelor</a:t>
            </a:r>
            <a:r>
              <a:rPr lang="en-US" dirty="0"/>
              <a:t> (Mutation Testing)</a:t>
            </a:r>
          </a:p>
        </p:txBody>
      </p:sp>
    </p:spTree>
    <p:extLst>
      <p:ext uri="{BB962C8B-B14F-4D97-AF65-F5344CB8AC3E}">
        <p14:creationId xmlns:p14="http://schemas.microsoft.com/office/powerpoint/2010/main" val="4007961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28ACF-5740-B445-ACF4-E75ED0BEE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Functia</a:t>
            </a:r>
            <a:r>
              <a:rPr lang="en-US" dirty="0"/>
              <a:t> </a:t>
            </a:r>
            <a:r>
              <a:rPr lang="en-US" dirty="0" err="1"/>
              <a:t>Aleasa</a:t>
            </a:r>
            <a:r>
              <a:rPr lang="en-US" dirty="0"/>
              <a:t>: Calculator de Note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9886F6-5E44-F24E-9A83-3AAA3A179F7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Functia</a:t>
            </a:r>
            <a:r>
              <a:rPr lang="en-US" dirty="0"/>
              <a:t> </a:t>
            </a:r>
            <a:r>
              <a:rPr lang="en-US" dirty="0" err="1"/>
              <a:t>primește</a:t>
            </a:r>
            <a:r>
              <a:rPr lang="en-US" dirty="0"/>
              <a:t> 3 </a:t>
            </a:r>
            <a:r>
              <a:rPr lang="en-US" dirty="0" err="1"/>
              <a:t>parametri</a:t>
            </a:r>
            <a:r>
              <a:rPr lang="en-US" dirty="0"/>
              <a:t>: un score [int], un bonus [int]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extraCredit</a:t>
            </a:r>
            <a:r>
              <a:rPr lang="en-US" dirty="0"/>
              <a:t> [</a:t>
            </a:r>
            <a:r>
              <a:rPr lang="en-US" dirty="0" err="1"/>
              <a:t>boolean</a:t>
            </a:r>
            <a:r>
              <a:rPr lang="en-US" dirty="0"/>
              <a:t>].</a:t>
            </a:r>
          </a:p>
          <a:p>
            <a:pPr marL="0" indent="0">
              <a:buNone/>
            </a:pPr>
            <a:r>
              <a:rPr lang="en-US" dirty="0"/>
              <a:t>• Au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respectate</a:t>
            </a:r>
            <a:r>
              <a:rPr lang="en-US" dirty="0"/>
              <a:t> in cod </a:t>
            </a:r>
            <a:r>
              <a:rPr lang="en-US" dirty="0" err="1"/>
              <a:t>constrangerile</a:t>
            </a:r>
            <a:r>
              <a:rPr lang="en-US" dirty="0"/>
              <a:t> </a:t>
            </a:r>
            <a:r>
              <a:rPr lang="en-US" dirty="0" err="1"/>
              <a:t>obligatorii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- O </a:t>
            </a:r>
            <a:r>
              <a:rPr lang="en-US" dirty="0" err="1"/>
              <a:t>instructiune</a:t>
            </a:r>
            <a:r>
              <a:rPr lang="en-US" dirty="0"/>
              <a:t> </a:t>
            </a:r>
            <a:r>
              <a:rPr lang="en-US" dirty="0" err="1"/>
              <a:t>iterativa</a:t>
            </a:r>
            <a:r>
              <a:rPr lang="en-US" dirty="0"/>
              <a:t> (</a:t>
            </a:r>
            <a:r>
              <a:rPr lang="en-US" dirty="0" err="1"/>
              <a:t>bucla</a:t>
            </a:r>
            <a:r>
              <a:rPr lang="en-US" dirty="0"/>
              <a:t> 'for')</a:t>
            </a:r>
          </a:p>
          <a:p>
            <a:pPr marL="0" indent="0">
              <a:buNone/>
            </a:pPr>
            <a:r>
              <a:rPr lang="en-US" dirty="0"/>
              <a:t>   - Un </a:t>
            </a:r>
            <a:r>
              <a:rPr lang="en-US" dirty="0" err="1"/>
              <a:t>decizional</a:t>
            </a:r>
            <a:r>
              <a:rPr lang="en-US" dirty="0"/>
              <a:t> cu IF / ELSE</a:t>
            </a:r>
          </a:p>
          <a:p>
            <a:pPr marL="0" indent="0">
              <a:buNone/>
            </a:pPr>
            <a:r>
              <a:rPr lang="en-US" dirty="0"/>
              <a:t>   - Un </a:t>
            </a:r>
            <a:r>
              <a:rPr lang="en-US" dirty="0" err="1"/>
              <a:t>decizional</a:t>
            </a:r>
            <a:r>
              <a:rPr lang="en-US" dirty="0"/>
              <a:t> </a:t>
            </a:r>
            <a:r>
              <a:rPr lang="en-US" dirty="0" err="1"/>
              <a:t>doar</a:t>
            </a:r>
            <a:r>
              <a:rPr lang="en-US" dirty="0"/>
              <a:t> cu IF</a:t>
            </a:r>
          </a:p>
          <a:p>
            <a:pPr marL="0" indent="0">
              <a:buNone/>
            </a:pPr>
            <a:r>
              <a:rPr lang="en-US" dirty="0"/>
              <a:t>   - O </a:t>
            </a:r>
            <a:r>
              <a:rPr lang="en-US" dirty="0" err="1"/>
              <a:t>conditionala</a:t>
            </a:r>
            <a:r>
              <a:rPr lang="en-US" dirty="0"/>
              <a:t> </a:t>
            </a:r>
            <a:r>
              <a:rPr lang="en-US" dirty="0" err="1"/>
              <a:t>simpla</a:t>
            </a:r>
            <a:r>
              <a:rPr lang="en-US" dirty="0"/>
              <a:t> + o </a:t>
            </a:r>
            <a:r>
              <a:rPr lang="en-US" dirty="0" err="1"/>
              <a:t>conditionala</a:t>
            </a:r>
            <a:r>
              <a:rPr lang="en-US" dirty="0"/>
              <a:t> </a:t>
            </a:r>
            <a:r>
              <a:rPr lang="en-US" dirty="0" err="1"/>
              <a:t>compusa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2F88714-D339-4542-8783-F0F82DD76A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653353" y="1519982"/>
            <a:ext cx="4167047" cy="5008205"/>
          </a:xfrm>
        </p:spPr>
      </p:pic>
    </p:spTree>
    <p:extLst>
      <p:ext uri="{BB962C8B-B14F-4D97-AF65-F5344CB8AC3E}">
        <p14:creationId xmlns:p14="http://schemas.microsoft.com/office/powerpoint/2010/main" val="1499699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A123B-30CE-1740-9B64-146265920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Testarea</a:t>
            </a:r>
            <a:r>
              <a:rPr lang="en-US" dirty="0"/>
              <a:t> </a:t>
            </a:r>
            <a:r>
              <a:rPr lang="en-US" dirty="0" err="1"/>
              <a:t>Functionala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09872-11B0-774B-B22E-CD2268BC12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Am </a:t>
            </a:r>
            <a:r>
              <a:rPr lang="en-US" dirty="0" err="1"/>
              <a:t>tratat</a:t>
            </a:r>
            <a:r>
              <a:rPr lang="en-US" dirty="0"/>
              <a:t> </a:t>
            </a:r>
            <a:r>
              <a:rPr lang="en-US" dirty="0" err="1"/>
              <a:t>sistemul</a:t>
            </a:r>
            <a:r>
              <a:rPr lang="en-US" dirty="0"/>
              <a:t> strict ca pe "o cutie </a:t>
            </a:r>
            <a:r>
              <a:rPr lang="en-US" dirty="0" err="1"/>
              <a:t>neagra</a:t>
            </a:r>
            <a:r>
              <a:rPr lang="en-US" dirty="0"/>
              <a:t>", </a:t>
            </a:r>
            <a:r>
              <a:rPr lang="en-US" dirty="0" err="1"/>
              <a:t>validand</a:t>
            </a:r>
            <a:r>
              <a:rPr lang="en-US" dirty="0"/>
              <a:t> </a:t>
            </a:r>
            <a:r>
              <a:rPr lang="en-US" dirty="0" err="1"/>
              <a:t>iesirile</a:t>
            </a:r>
            <a:r>
              <a:rPr lang="en-US" dirty="0"/>
              <a:t> pe </a:t>
            </a:r>
            <a:r>
              <a:rPr lang="en-US" dirty="0" err="1"/>
              <a:t>baza</a:t>
            </a:r>
            <a:r>
              <a:rPr lang="en-US" dirty="0"/>
              <a:t> </a:t>
            </a:r>
            <a:r>
              <a:rPr lang="en-US" dirty="0" err="1"/>
              <a:t>datelor</a:t>
            </a:r>
            <a:r>
              <a:rPr lang="en-US" dirty="0"/>
              <a:t> de </a:t>
            </a:r>
            <a:r>
              <a:rPr lang="en-US" dirty="0" err="1"/>
              <a:t>intrare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Partitionarea</a:t>
            </a:r>
            <a:r>
              <a:rPr lang="en-US" dirty="0"/>
              <a:t> </a:t>
            </a:r>
            <a:r>
              <a:rPr lang="en-US" dirty="0" err="1"/>
              <a:t>Claselor</a:t>
            </a:r>
            <a:r>
              <a:rPr lang="en-US" dirty="0"/>
              <a:t> de </a:t>
            </a:r>
            <a:r>
              <a:rPr lang="en-US" dirty="0" err="1"/>
              <a:t>Echivalenta</a:t>
            </a:r>
            <a:r>
              <a:rPr lang="en-US" dirty="0"/>
              <a:t>: Au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grupate</a:t>
            </a:r>
            <a:r>
              <a:rPr lang="en-US" dirty="0"/>
              <a:t> </a:t>
            </a:r>
            <a:r>
              <a:rPr lang="en-US" dirty="0" err="1"/>
              <a:t>intrarile</a:t>
            </a:r>
            <a:r>
              <a:rPr lang="en-US" dirty="0"/>
              <a:t> in </a:t>
            </a:r>
            <a:r>
              <a:rPr lang="en-US" dirty="0" err="1"/>
              <a:t>clase</a:t>
            </a:r>
            <a:r>
              <a:rPr lang="en-US" dirty="0"/>
              <a:t> </a:t>
            </a:r>
            <a:r>
              <a:rPr lang="en-US" dirty="0" err="1"/>
              <a:t>pur</a:t>
            </a:r>
            <a:r>
              <a:rPr lang="en-US" dirty="0"/>
              <a:t> </a:t>
            </a:r>
            <a:r>
              <a:rPr lang="en-US" dirty="0" err="1"/>
              <a:t>valide</a:t>
            </a:r>
            <a:r>
              <a:rPr lang="en-US" dirty="0"/>
              <a:t> (ex: o nota de </a:t>
            </a:r>
            <a:r>
              <a:rPr lang="en-US" dirty="0" err="1"/>
              <a:t>trecere</a:t>
            </a:r>
            <a:r>
              <a:rPr lang="en-US" dirty="0"/>
              <a:t> vs o nota maxima)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invalide</a:t>
            </a:r>
            <a:r>
              <a:rPr lang="en-US" dirty="0"/>
              <a:t> (sub 0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peste</a:t>
            </a:r>
            <a:r>
              <a:rPr lang="en-US" dirty="0"/>
              <a:t> 100).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Analiza</a:t>
            </a:r>
            <a:r>
              <a:rPr lang="en-US" dirty="0"/>
              <a:t> </a:t>
            </a:r>
            <a:r>
              <a:rPr lang="en-US" dirty="0" err="1"/>
              <a:t>Valorilor</a:t>
            </a:r>
            <a:r>
              <a:rPr lang="en-US" dirty="0"/>
              <a:t> de </a:t>
            </a:r>
            <a:r>
              <a:rPr lang="en-US" dirty="0" err="1"/>
              <a:t>Frontiera</a:t>
            </a:r>
            <a:r>
              <a:rPr lang="en-US" dirty="0"/>
              <a:t> (BVA): S-a </a:t>
            </a:r>
            <a:r>
              <a:rPr lang="en-US" dirty="0" err="1"/>
              <a:t>dovedit</a:t>
            </a:r>
            <a:r>
              <a:rPr lang="en-US" dirty="0"/>
              <a:t> </a:t>
            </a:r>
            <a:r>
              <a:rPr lang="en-US" dirty="0" err="1"/>
              <a:t>stabilitatea</a:t>
            </a:r>
            <a:r>
              <a:rPr lang="en-US" dirty="0"/>
              <a:t> </a:t>
            </a:r>
            <a:r>
              <a:rPr lang="en-US" dirty="0" err="1"/>
              <a:t>pragurilor</a:t>
            </a:r>
            <a:r>
              <a:rPr lang="en-US" dirty="0"/>
              <a:t> </a:t>
            </a:r>
            <a:r>
              <a:rPr lang="en-US" dirty="0" err="1"/>
              <a:t>executand</a:t>
            </a:r>
            <a:r>
              <a:rPr lang="en-US" dirty="0"/>
              <a:t> </a:t>
            </a:r>
            <a:r>
              <a:rPr lang="en-US" dirty="0" err="1"/>
              <a:t>incarcarea</a:t>
            </a:r>
            <a:r>
              <a:rPr lang="en-US" dirty="0"/>
              <a:t> </a:t>
            </a:r>
            <a:r>
              <a:rPr lang="en-US" dirty="0" err="1"/>
              <a:t>limitelor</a:t>
            </a:r>
            <a:r>
              <a:rPr lang="en-US" dirty="0"/>
              <a:t> fix pe </a:t>
            </a:r>
            <a:r>
              <a:rPr lang="en-US" dirty="0" err="1"/>
              <a:t>muchie</a:t>
            </a:r>
            <a:r>
              <a:rPr lang="en-US" dirty="0"/>
              <a:t> (ex: total = 69, 70, 71).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3858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7A54C-A680-1E42-8D49-1A8041BEC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Testarea</a:t>
            </a:r>
            <a:r>
              <a:rPr lang="en-US" dirty="0"/>
              <a:t> </a:t>
            </a:r>
            <a:r>
              <a:rPr lang="en-US" dirty="0" err="1"/>
              <a:t>Structurala</a:t>
            </a:r>
            <a:r>
              <a:rPr lang="en-US" dirty="0"/>
              <a:t> cu </a:t>
            </a:r>
            <a:r>
              <a:rPr lang="en-US" dirty="0" err="1"/>
              <a:t>JaCoCo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94E524-BBA2-F644-B6D8-00D81CD0A4A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Testele</a:t>
            </a:r>
            <a:r>
              <a:rPr lang="en-US" dirty="0"/>
              <a:t> the white-box au </a:t>
            </a:r>
            <a:r>
              <a:rPr lang="en-US" dirty="0" err="1"/>
              <a:t>dovedit</a:t>
            </a:r>
            <a:r>
              <a:rPr lang="en-US" dirty="0"/>
              <a:t> </a:t>
            </a:r>
            <a:r>
              <a:rPr lang="en-US" dirty="0" err="1"/>
              <a:t>functionarea</a:t>
            </a:r>
            <a:r>
              <a:rPr lang="en-US" dirty="0"/>
              <a:t> perfecta a </a:t>
            </a:r>
            <a:r>
              <a:rPr lang="en-US" dirty="0" err="1"/>
              <a:t>logicii</a:t>
            </a:r>
            <a:r>
              <a:rPr lang="en-US" dirty="0"/>
              <a:t> </a:t>
            </a:r>
            <a:r>
              <a:rPr lang="en-US" dirty="0" err="1"/>
              <a:t>interioare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• Statement Coverage </a:t>
            </a:r>
            <a:r>
              <a:rPr lang="en-US" dirty="0" err="1"/>
              <a:t>atins</a:t>
            </a:r>
            <a:r>
              <a:rPr lang="en-US" dirty="0"/>
              <a:t>: </a:t>
            </a:r>
            <a:r>
              <a:rPr lang="en-US" dirty="0" err="1"/>
              <a:t>Fiecare</a:t>
            </a:r>
            <a:r>
              <a:rPr lang="en-US" dirty="0"/>
              <a:t> </a:t>
            </a:r>
            <a:r>
              <a:rPr lang="en-US" dirty="0" err="1"/>
              <a:t>linie</a:t>
            </a:r>
            <a:r>
              <a:rPr lang="en-US" dirty="0"/>
              <a:t> </a:t>
            </a:r>
            <a:r>
              <a:rPr lang="en-US" dirty="0" err="1"/>
              <a:t>efectiv</a:t>
            </a:r>
            <a:r>
              <a:rPr lang="en-US" dirty="0"/>
              <a:t> </a:t>
            </a:r>
            <a:r>
              <a:rPr lang="en-US" dirty="0" err="1"/>
              <a:t>executabila</a:t>
            </a:r>
            <a:r>
              <a:rPr lang="en-US" dirty="0"/>
              <a:t> de </a:t>
            </a:r>
            <a:r>
              <a:rPr lang="en-US" dirty="0" err="1"/>
              <a:t>logica</a:t>
            </a:r>
            <a:r>
              <a:rPr lang="en-US" dirty="0"/>
              <a:t> de </a:t>
            </a:r>
            <a:r>
              <a:rPr lang="en-US" dirty="0" err="1"/>
              <a:t>productie</a:t>
            </a:r>
            <a:r>
              <a:rPr lang="en-US" dirty="0"/>
              <a:t> a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parcursa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• Branch Coverage </a:t>
            </a:r>
            <a:r>
              <a:rPr lang="en-US" dirty="0" err="1"/>
              <a:t>atins</a:t>
            </a:r>
            <a:r>
              <a:rPr lang="en-US" dirty="0"/>
              <a:t> = 100%. </a:t>
            </a:r>
            <a:r>
              <a:rPr lang="en-US" dirty="0" err="1"/>
              <a:t>Nicio</a:t>
            </a:r>
            <a:r>
              <a:rPr lang="en-US" dirty="0"/>
              <a:t> </a:t>
            </a:r>
            <a:r>
              <a:rPr lang="en-US" dirty="0" err="1"/>
              <a:t>ramificatie</a:t>
            </a:r>
            <a:r>
              <a:rPr lang="en-US" dirty="0"/>
              <a:t> </a:t>
            </a:r>
            <a:r>
              <a:rPr lang="en-US" dirty="0" err="1"/>
              <a:t>logica</a:t>
            </a:r>
            <a:r>
              <a:rPr lang="en-US" dirty="0"/>
              <a:t> a if-</a:t>
            </a:r>
            <a:r>
              <a:rPr lang="en-US" dirty="0" err="1"/>
              <a:t>urilor</a:t>
            </a:r>
            <a:r>
              <a:rPr lang="en-US" dirty="0"/>
              <a:t> nu a </a:t>
            </a:r>
            <a:r>
              <a:rPr lang="en-US" dirty="0" err="1"/>
              <a:t>scapat</a:t>
            </a:r>
            <a:r>
              <a:rPr lang="en-US" dirty="0"/>
              <a:t> </a:t>
            </a:r>
            <a:r>
              <a:rPr lang="en-US" dirty="0" err="1"/>
              <a:t>neverificata</a:t>
            </a:r>
            <a:r>
              <a:rPr lang="en-US" dirty="0"/>
              <a:t> pe </a:t>
            </a:r>
            <a:r>
              <a:rPr lang="en-US" dirty="0" err="1"/>
              <a:t>ambele</a:t>
            </a:r>
            <a:r>
              <a:rPr lang="en-US" dirty="0"/>
              <a:t> </a:t>
            </a:r>
            <a:r>
              <a:rPr lang="en-US" dirty="0" err="1"/>
              <a:t>valente</a:t>
            </a:r>
            <a:r>
              <a:rPr lang="en-US" dirty="0"/>
              <a:t> </a:t>
            </a:r>
            <a:r>
              <a:rPr lang="en-US" dirty="0" err="1"/>
              <a:t>posibile</a:t>
            </a:r>
            <a:r>
              <a:rPr lang="en-US" dirty="0"/>
              <a:t> (</a:t>
            </a:r>
            <a:r>
              <a:rPr lang="en-US" dirty="0" err="1"/>
              <a:t>Adevarat</a:t>
            </a:r>
            <a:r>
              <a:rPr lang="en-US" dirty="0"/>
              <a:t> / </a:t>
            </a:r>
            <a:r>
              <a:rPr lang="en-US" dirty="0" err="1"/>
              <a:t>Fals</a:t>
            </a:r>
            <a:r>
              <a:rPr lang="en-US" dirty="0"/>
              <a:t>).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25259BB-F743-264D-A7E2-6097B33F342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819386" y="2423128"/>
            <a:ext cx="6219128" cy="2263173"/>
          </a:xfrm>
        </p:spPr>
      </p:pic>
    </p:spTree>
    <p:extLst>
      <p:ext uri="{BB962C8B-B14F-4D97-AF65-F5344CB8AC3E}">
        <p14:creationId xmlns:p14="http://schemas.microsoft.com/office/powerpoint/2010/main" val="41484911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08B9D-A378-674C-9F9E-2E2423632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Validarea</a:t>
            </a:r>
            <a:r>
              <a:rPr lang="en-US" dirty="0"/>
              <a:t> </a:t>
            </a:r>
            <a:r>
              <a:rPr lang="en-US" dirty="0" err="1"/>
              <a:t>Atomica</a:t>
            </a:r>
            <a:r>
              <a:rPr lang="en-US" dirty="0"/>
              <a:t> (Condition &amp; MC/DC)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BF3525-9443-2045-ADF2-C5399A6A5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• S-au </a:t>
            </a:r>
            <a:r>
              <a:rPr lang="en-US" dirty="0" err="1"/>
              <a:t>analizat</a:t>
            </a:r>
            <a:r>
              <a:rPr lang="en-US" dirty="0"/>
              <a:t> independent </a:t>
            </a:r>
            <a:r>
              <a:rPr lang="en-US" dirty="0" err="1"/>
              <a:t>expresiile</a:t>
            </a:r>
            <a:r>
              <a:rPr lang="en-US" dirty="0"/>
              <a:t> </a:t>
            </a:r>
            <a:r>
              <a:rPr lang="en-US" dirty="0" err="1"/>
              <a:t>conditionale</a:t>
            </a:r>
            <a:r>
              <a:rPr lang="en-US" dirty="0"/>
              <a:t> </a:t>
            </a:r>
            <a:r>
              <a:rPr lang="en-US" dirty="0" err="1"/>
              <a:t>complexe</a:t>
            </a:r>
            <a:r>
              <a:rPr lang="en-US" dirty="0"/>
              <a:t> ale </a:t>
            </a:r>
            <a:r>
              <a:rPr lang="en-US" dirty="0" err="1"/>
              <a:t>codului</a:t>
            </a:r>
            <a:r>
              <a:rPr lang="en-US" dirty="0"/>
              <a:t> (precum IF score &lt; 0 OR score &gt; 100).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Prin</a:t>
            </a:r>
            <a:r>
              <a:rPr lang="en-US" dirty="0"/>
              <a:t> Modified Condition/Decision Coverage s-a </a:t>
            </a:r>
            <a:r>
              <a:rPr lang="en-US" dirty="0" err="1"/>
              <a:t>adus</a:t>
            </a:r>
            <a:r>
              <a:rPr lang="en-US" dirty="0"/>
              <a:t> </a:t>
            </a:r>
            <a:r>
              <a:rPr lang="en-US" dirty="0" err="1"/>
              <a:t>dovada</a:t>
            </a:r>
            <a:r>
              <a:rPr lang="en-US" dirty="0"/>
              <a:t> ca </a:t>
            </a:r>
            <a:r>
              <a:rPr lang="en-US" dirty="0" err="1"/>
              <a:t>fiecare</a:t>
            </a:r>
            <a:r>
              <a:rPr lang="en-US" dirty="0"/>
              <a:t> </a:t>
            </a:r>
            <a:r>
              <a:rPr lang="en-US" dirty="0" err="1"/>
              <a:t>conditie</a:t>
            </a:r>
            <a:r>
              <a:rPr lang="en-US" dirty="0"/>
              <a:t> </a:t>
            </a:r>
            <a:r>
              <a:rPr lang="en-US" dirty="0" err="1"/>
              <a:t>componenta</a:t>
            </a:r>
            <a:r>
              <a:rPr lang="en-US" dirty="0"/>
              <a:t> </a:t>
            </a:r>
            <a:r>
              <a:rPr lang="en-US" dirty="0" err="1"/>
              <a:t>poseda</a:t>
            </a:r>
            <a:r>
              <a:rPr lang="en-US" dirty="0"/>
              <a:t> </a:t>
            </a:r>
            <a:r>
              <a:rPr lang="en-US" dirty="0" err="1"/>
              <a:t>influenta</a:t>
            </a:r>
            <a:r>
              <a:rPr lang="en-US" dirty="0"/>
              <a:t> </a:t>
            </a:r>
            <a:r>
              <a:rPr lang="en-US" dirty="0" err="1"/>
              <a:t>autonoma</a:t>
            </a:r>
            <a:r>
              <a:rPr lang="en-US" dirty="0"/>
              <a:t> </a:t>
            </a:r>
            <a:r>
              <a:rPr lang="en-US" dirty="0" err="1"/>
              <a:t>asupra</a:t>
            </a:r>
            <a:r>
              <a:rPr lang="en-US" dirty="0"/>
              <a:t> </a:t>
            </a:r>
            <a:r>
              <a:rPr lang="en-US" dirty="0" err="1"/>
              <a:t>deciziei</a:t>
            </a:r>
            <a:r>
              <a:rPr lang="en-US" dirty="0"/>
              <a:t> </a:t>
            </a:r>
            <a:r>
              <a:rPr lang="en-US" dirty="0" err="1"/>
              <a:t>globale</a:t>
            </a:r>
            <a:r>
              <a:rPr lang="en-US" dirty="0"/>
              <a:t> D.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Testele</a:t>
            </a:r>
            <a:r>
              <a:rPr lang="en-US" dirty="0"/>
              <a:t> au </a:t>
            </a:r>
            <a:r>
              <a:rPr lang="en-US" dirty="0" err="1"/>
              <a:t>parcurs</a:t>
            </a:r>
            <a:r>
              <a:rPr lang="en-US" dirty="0"/>
              <a:t> </a:t>
            </a:r>
            <a:r>
              <a:rPr lang="en-US" dirty="0" err="1"/>
              <a:t>matricile</a:t>
            </a:r>
            <a:r>
              <a:rPr lang="en-US" dirty="0"/>
              <a:t> de </a:t>
            </a:r>
            <a:r>
              <a:rPr lang="en-US" dirty="0" err="1"/>
              <a:t>adevar</a:t>
            </a:r>
            <a:r>
              <a:rPr lang="en-US" dirty="0"/>
              <a:t> </a:t>
            </a:r>
            <a:r>
              <a:rPr lang="en-US" dirty="0" err="1"/>
              <a:t>teoretice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01688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07772-37BE-4E4E-9E41-C8718ACD8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Circuite</a:t>
            </a:r>
            <a:r>
              <a:rPr lang="en-US" dirty="0"/>
              <a:t> </a:t>
            </a:r>
            <a:r>
              <a:rPr lang="en-US" dirty="0" err="1"/>
              <a:t>Inteligente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A4E1A-44EA-EA47-840F-5AB164D9B5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• S-a </a:t>
            </a:r>
            <a:r>
              <a:rPr lang="en-US" dirty="0" err="1"/>
              <a:t>conceput</a:t>
            </a:r>
            <a:r>
              <a:rPr lang="en-US" dirty="0"/>
              <a:t> </a:t>
            </a:r>
            <a:r>
              <a:rPr lang="en-US" dirty="0" err="1"/>
              <a:t>Graful</a:t>
            </a:r>
            <a:r>
              <a:rPr lang="en-US" dirty="0"/>
              <a:t> </a:t>
            </a:r>
            <a:r>
              <a:rPr lang="en-US" dirty="0" err="1"/>
              <a:t>Fluxului</a:t>
            </a:r>
            <a:r>
              <a:rPr lang="en-US" dirty="0"/>
              <a:t> de Control (CFG)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structura</a:t>
            </a:r>
            <a:r>
              <a:rPr lang="en-US" dirty="0"/>
              <a:t> </a:t>
            </a:r>
            <a:r>
              <a:rPr lang="en-US" dirty="0" err="1"/>
              <a:t>functiei</a:t>
            </a:r>
            <a:r>
              <a:rPr lang="en-US" dirty="0"/>
              <a:t> </a:t>
            </a:r>
            <a:r>
              <a:rPr lang="en-US" dirty="0" err="1"/>
              <a:t>noastre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ecuatia</a:t>
            </a:r>
            <a:r>
              <a:rPr lang="en-US" dirty="0"/>
              <a:t> [V(G) = Arcuri - </a:t>
            </a:r>
            <a:r>
              <a:rPr lang="en-US" dirty="0" err="1"/>
              <a:t>Noduri</a:t>
            </a:r>
            <a:r>
              <a:rPr lang="en-US" dirty="0"/>
              <a:t> + 2], s-a </a:t>
            </a:r>
            <a:r>
              <a:rPr lang="en-US" dirty="0" err="1"/>
              <a:t>identificat</a:t>
            </a:r>
            <a:r>
              <a:rPr lang="en-US" dirty="0"/>
              <a:t> </a:t>
            </a:r>
            <a:r>
              <a:rPr lang="en-US" dirty="0" err="1"/>
              <a:t>valoarea</a:t>
            </a:r>
            <a:r>
              <a:rPr lang="en-US" dirty="0"/>
              <a:t> de </a:t>
            </a:r>
            <a:r>
              <a:rPr lang="en-US" dirty="0" err="1"/>
              <a:t>Complexitate</a:t>
            </a:r>
            <a:r>
              <a:rPr lang="en-US" dirty="0"/>
              <a:t> </a:t>
            </a:r>
            <a:r>
              <a:rPr lang="en-US" dirty="0" err="1"/>
              <a:t>Ciclomatica</a:t>
            </a:r>
            <a:r>
              <a:rPr lang="en-US" dirty="0"/>
              <a:t> de fix 5. 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Drept</a:t>
            </a:r>
            <a:r>
              <a:rPr lang="en-US" dirty="0"/>
              <a:t> </a:t>
            </a:r>
            <a:r>
              <a:rPr lang="en-US" dirty="0" err="1"/>
              <a:t>consecinta</a:t>
            </a:r>
            <a:r>
              <a:rPr lang="en-US" dirty="0"/>
              <a:t>, au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programate</a:t>
            </a:r>
            <a:r>
              <a:rPr lang="en-US" dirty="0"/>
              <a:t> automat "5 Teste Absolute" care </a:t>
            </a:r>
            <a:r>
              <a:rPr lang="en-US" dirty="0" err="1"/>
              <a:t>traverseaza</a:t>
            </a:r>
            <a:r>
              <a:rPr lang="en-US" dirty="0"/>
              <a:t> </a:t>
            </a:r>
            <a:r>
              <a:rPr lang="en-US" dirty="0" err="1"/>
              <a:t>rutele</a:t>
            </a:r>
            <a:r>
              <a:rPr lang="en-US" dirty="0"/>
              <a:t> </a:t>
            </a:r>
            <a:r>
              <a:rPr lang="en-US" dirty="0" err="1"/>
              <a:t>fundamentale</a:t>
            </a:r>
            <a:r>
              <a:rPr lang="en-US" dirty="0"/>
              <a:t> </a:t>
            </a:r>
            <a:r>
              <a:rPr lang="en-US" dirty="0" err="1"/>
              <a:t>complet</a:t>
            </a:r>
            <a:r>
              <a:rPr lang="en-US" dirty="0"/>
              <a:t> </a:t>
            </a:r>
            <a:r>
              <a:rPr lang="en-US" dirty="0" err="1"/>
              <a:t>diferite</a:t>
            </a:r>
            <a:r>
              <a:rPr lang="en-US" dirty="0"/>
              <a:t> ale CFG-</a:t>
            </a:r>
            <a:r>
              <a:rPr lang="en-US" dirty="0" err="1"/>
              <a:t>ului</a:t>
            </a:r>
            <a:r>
              <a:rPr lang="en-US" dirty="0"/>
              <a:t> din </a:t>
            </a:r>
            <a:r>
              <a:rPr lang="en-US" dirty="0" err="1"/>
              <a:t>capat</a:t>
            </a:r>
            <a:r>
              <a:rPr lang="en-US" dirty="0"/>
              <a:t> in </a:t>
            </a:r>
            <a:r>
              <a:rPr lang="en-US" dirty="0" err="1"/>
              <a:t>capat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45292FC-186A-2F43-B020-0988C48B2C3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819386" y="2171700"/>
            <a:ext cx="6060477" cy="2761877"/>
          </a:xfrm>
        </p:spPr>
      </p:pic>
    </p:spTree>
    <p:extLst>
      <p:ext uri="{BB962C8B-B14F-4D97-AF65-F5344CB8AC3E}">
        <p14:creationId xmlns:p14="http://schemas.microsoft.com/office/powerpoint/2010/main" val="16769571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2BA54-87E4-1A4E-9575-FF3FE7377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Sfidarea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Mutatii</a:t>
            </a:r>
            <a:r>
              <a:rPr lang="en-US" dirty="0"/>
              <a:t> (</a:t>
            </a:r>
            <a:r>
              <a:rPr lang="en-US" dirty="0" err="1"/>
              <a:t>PITest</a:t>
            </a:r>
            <a:r>
              <a:rPr lang="en-US" dirty="0"/>
              <a:t>)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A981A-CFA9-4F49-ACA6-1D842AB5CF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• Scop: </a:t>
            </a:r>
            <a:r>
              <a:rPr lang="en-US" dirty="0" err="1"/>
              <a:t>Verificarea</a:t>
            </a:r>
            <a:r>
              <a:rPr lang="en-US" dirty="0"/>
              <a:t> "</a:t>
            </a:r>
            <a:r>
              <a:rPr lang="en-US" dirty="0" err="1"/>
              <a:t>anticorpilor</a:t>
            </a:r>
            <a:r>
              <a:rPr lang="en-US" dirty="0"/>
              <a:t>" </a:t>
            </a:r>
            <a:r>
              <a:rPr lang="en-US" dirty="0" err="1"/>
              <a:t>suitei</a:t>
            </a:r>
            <a:r>
              <a:rPr lang="en-US" dirty="0"/>
              <a:t> </a:t>
            </a:r>
            <a:r>
              <a:rPr lang="en-US" dirty="0" err="1"/>
              <a:t>noastre</a:t>
            </a:r>
            <a:r>
              <a:rPr lang="en-US" dirty="0"/>
              <a:t> de teste. A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rulat</a:t>
            </a:r>
            <a:r>
              <a:rPr lang="en-US" dirty="0"/>
              <a:t> </a:t>
            </a:r>
            <a:r>
              <a:rPr lang="en-US" dirty="0" err="1"/>
              <a:t>pluginul</a:t>
            </a:r>
            <a:r>
              <a:rPr lang="en-US" dirty="0"/>
              <a:t> de </a:t>
            </a:r>
            <a:r>
              <a:rPr lang="en-US" dirty="0" err="1"/>
              <a:t>injectie</a:t>
            </a:r>
            <a:r>
              <a:rPr lang="en-US" dirty="0"/>
              <a:t> PIT.</a:t>
            </a:r>
          </a:p>
          <a:p>
            <a:pPr marL="0" indent="0">
              <a:buNone/>
            </a:pPr>
            <a:r>
              <a:rPr lang="en-US" dirty="0"/>
              <a:t>• PIT a </a:t>
            </a:r>
            <a:r>
              <a:rPr lang="en-US" dirty="0" err="1"/>
              <a:t>alterat</a:t>
            </a:r>
            <a:r>
              <a:rPr lang="en-US" dirty="0"/>
              <a:t> </a:t>
            </a:r>
            <a:r>
              <a:rPr lang="en-US" dirty="0" err="1"/>
              <a:t>mecanic</a:t>
            </a:r>
            <a:r>
              <a:rPr lang="en-US" dirty="0"/>
              <a:t> bytecode-ul java (</a:t>
            </a:r>
            <a:r>
              <a:rPr lang="en-US" dirty="0" err="1"/>
              <a:t>generand</a:t>
            </a:r>
            <a:r>
              <a:rPr lang="en-US" dirty="0"/>
              <a:t> artificial </a:t>
            </a:r>
            <a:r>
              <a:rPr lang="en-US" dirty="0" err="1"/>
              <a:t>zeci</a:t>
            </a:r>
            <a:r>
              <a:rPr lang="en-US" dirty="0"/>
              <a:t> de </a:t>
            </a:r>
            <a:r>
              <a:rPr lang="en-US" dirty="0" err="1"/>
              <a:t>asa</a:t>
            </a:r>
            <a:r>
              <a:rPr lang="en-US" dirty="0"/>
              <a:t> </a:t>
            </a:r>
            <a:r>
              <a:rPr lang="en-US" dirty="0" err="1"/>
              <a:t>numiti</a:t>
            </a:r>
            <a:r>
              <a:rPr lang="en-US" dirty="0"/>
              <a:t> "</a:t>
            </a:r>
            <a:r>
              <a:rPr lang="en-US" dirty="0" err="1"/>
              <a:t>mutanti</a:t>
            </a:r>
            <a:r>
              <a:rPr lang="en-US" dirty="0"/>
              <a:t>" </a:t>
            </a:r>
            <a:r>
              <a:rPr lang="en-US" dirty="0" err="1"/>
              <a:t>ascunsi</a:t>
            </a:r>
            <a:r>
              <a:rPr lang="en-US" dirty="0"/>
              <a:t>: </a:t>
            </a:r>
            <a:r>
              <a:rPr lang="en-US" dirty="0" err="1"/>
              <a:t>inversari</a:t>
            </a:r>
            <a:r>
              <a:rPr lang="en-US" dirty="0"/>
              <a:t> </a:t>
            </a:r>
            <a:r>
              <a:rPr lang="en-US" dirty="0" err="1"/>
              <a:t>logice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numere</a:t>
            </a:r>
            <a:r>
              <a:rPr lang="en-US" dirty="0"/>
              <a:t> </a:t>
            </a:r>
            <a:r>
              <a:rPr lang="en-US" dirty="0" err="1"/>
              <a:t>modificate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Apoi</a:t>
            </a:r>
            <a:r>
              <a:rPr lang="en-US" dirty="0"/>
              <a:t> au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rulate</a:t>
            </a:r>
            <a:r>
              <a:rPr lang="en-US" dirty="0"/>
              <a:t> </a:t>
            </a:r>
            <a:r>
              <a:rPr lang="en-US" dirty="0" err="1"/>
              <a:t>cele</a:t>
            </a:r>
            <a:r>
              <a:rPr lang="en-US" dirty="0"/>
              <a:t> 88 de teste </a:t>
            </a:r>
            <a:r>
              <a:rPr lang="en-US" dirty="0" err="1"/>
              <a:t>scrise</a:t>
            </a:r>
            <a:r>
              <a:rPr lang="en-US" dirty="0"/>
              <a:t> </a:t>
            </a:r>
            <a:r>
              <a:rPr lang="en-US" dirty="0" err="1"/>
              <a:t>chiar</a:t>
            </a:r>
            <a:r>
              <a:rPr lang="en-US" dirty="0"/>
              <a:t> de </a:t>
            </a:r>
            <a:r>
              <a:rPr lang="en-US" dirty="0" err="1"/>
              <a:t>noi</a:t>
            </a:r>
            <a:r>
              <a:rPr lang="en-US" dirty="0"/>
              <a:t> </a:t>
            </a:r>
            <a:r>
              <a:rPr lang="en-US" dirty="0" err="1"/>
              <a:t>deasupra</a:t>
            </a:r>
            <a:r>
              <a:rPr lang="en-US" dirty="0"/>
              <a:t> </a:t>
            </a:r>
            <a:r>
              <a:rPr lang="en-US" dirty="0" err="1"/>
              <a:t>codului</a:t>
            </a:r>
            <a:r>
              <a:rPr lang="en-US" dirty="0"/>
              <a:t> </a:t>
            </a:r>
            <a:r>
              <a:rPr lang="en-US" dirty="0" err="1"/>
              <a:t>acum</a:t>
            </a:r>
            <a:r>
              <a:rPr lang="en-US" dirty="0"/>
              <a:t> </a:t>
            </a:r>
            <a:r>
              <a:rPr lang="en-US" dirty="0" err="1"/>
              <a:t>stricat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66666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EBDB0-12F1-1740-B6DB-CBD22D05F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Indicatorul</a:t>
            </a:r>
            <a:r>
              <a:rPr lang="en-US" dirty="0"/>
              <a:t> de </a:t>
            </a:r>
            <a:r>
              <a:rPr lang="en-US" dirty="0" err="1"/>
              <a:t>Omorare</a:t>
            </a:r>
            <a:r>
              <a:rPr lang="en-US" dirty="0"/>
              <a:t> &amp; </a:t>
            </a:r>
            <a:r>
              <a:rPr lang="en-US" dirty="0" err="1"/>
              <a:t>Mutanti</a:t>
            </a:r>
            <a:r>
              <a:rPr lang="en-US" dirty="0"/>
              <a:t> </a:t>
            </a:r>
            <a:r>
              <a:rPr lang="en-US" dirty="0" err="1"/>
              <a:t>Echivalenti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2A14E-FEE4-DF43-BFA4-1B49B9E6FF4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• Mutation Score </a:t>
            </a:r>
            <a:r>
              <a:rPr lang="en-US" dirty="0" err="1"/>
              <a:t>inregistrat</a:t>
            </a:r>
            <a:r>
              <a:rPr lang="en-US" dirty="0"/>
              <a:t>: 87% (34 din 39 </a:t>
            </a:r>
            <a:r>
              <a:rPr lang="en-US" dirty="0" err="1"/>
              <a:t>supuse</a:t>
            </a:r>
            <a:r>
              <a:rPr lang="en-US" dirty="0"/>
              <a:t> </a:t>
            </a:r>
            <a:r>
              <a:rPr lang="en-US" dirty="0" err="1"/>
              <a:t>analizei</a:t>
            </a:r>
            <a:r>
              <a:rPr lang="en-US" dirty="0"/>
              <a:t> </a:t>
            </a:r>
            <a:r>
              <a:rPr lang="en-US" dirty="0" err="1"/>
              <a:t>fiind</a:t>
            </a:r>
            <a:r>
              <a:rPr lang="en-US" dirty="0"/>
              <a:t> </a:t>
            </a:r>
            <a:r>
              <a:rPr lang="en-US" dirty="0" err="1"/>
              <a:t>rulate</a:t>
            </a:r>
            <a:r>
              <a:rPr lang="en-US" dirty="0"/>
              <a:t>). 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Mutanti</a:t>
            </a:r>
            <a:r>
              <a:rPr lang="en-US" dirty="0"/>
              <a:t> </a:t>
            </a:r>
            <a:r>
              <a:rPr lang="en-US" dirty="0" err="1"/>
              <a:t>Ujici</a:t>
            </a:r>
            <a:r>
              <a:rPr lang="en-US" dirty="0"/>
              <a:t> in Direct: Cu teste </a:t>
            </a:r>
            <a:r>
              <a:rPr lang="en-US" dirty="0" err="1"/>
              <a:t>targetate</a:t>
            </a:r>
            <a:r>
              <a:rPr lang="en-US" dirty="0"/>
              <a:t>, au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ucise</a:t>
            </a:r>
            <a:r>
              <a:rPr lang="en-US" dirty="0"/>
              <a:t> </a:t>
            </a:r>
            <a:r>
              <a:rPr lang="en-US" dirty="0" err="1"/>
              <a:t>defecte</a:t>
            </a:r>
            <a:r>
              <a:rPr lang="en-US" dirty="0"/>
              <a:t> in </a:t>
            </a:r>
            <a:r>
              <a:rPr lang="en-US" dirty="0" err="1"/>
              <a:t>interiorul</a:t>
            </a:r>
            <a:r>
              <a:rPr lang="en-US" dirty="0"/>
              <a:t> </a:t>
            </a:r>
            <a:r>
              <a:rPr lang="en-US" dirty="0" err="1"/>
              <a:t>calculului</a:t>
            </a:r>
            <a:r>
              <a:rPr lang="en-US" dirty="0"/>
              <a:t> </a:t>
            </a:r>
            <a:r>
              <a:rPr lang="en-US" dirty="0" err="1"/>
              <a:t>matematic</a:t>
            </a:r>
            <a:r>
              <a:rPr lang="en-US" dirty="0"/>
              <a:t> al </a:t>
            </a:r>
            <a:r>
              <a:rPr lang="en-US" dirty="0" err="1"/>
              <a:t>aplicatiei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Mutanti</a:t>
            </a:r>
            <a:r>
              <a:rPr lang="en-US" dirty="0"/>
              <a:t> </a:t>
            </a:r>
            <a:r>
              <a:rPr lang="en-US" dirty="0" err="1"/>
              <a:t>Echivalenti</a:t>
            </a:r>
            <a:r>
              <a:rPr lang="en-US" dirty="0"/>
              <a:t> (Survived): </a:t>
            </a:r>
            <a:r>
              <a:rPr lang="en-US" dirty="0" err="1"/>
              <a:t>Restul</a:t>
            </a:r>
            <a:r>
              <a:rPr lang="en-US" dirty="0"/>
              <a:t> </a:t>
            </a:r>
            <a:r>
              <a:rPr lang="en-US" dirty="0" err="1"/>
              <a:t>ramas</a:t>
            </a:r>
            <a:r>
              <a:rPr lang="en-US" dirty="0"/>
              <a:t> a </a:t>
            </a:r>
            <a:r>
              <a:rPr lang="en-US" dirty="0" err="1"/>
              <a:t>inregistrat</a:t>
            </a:r>
            <a:r>
              <a:rPr lang="en-US" dirty="0"/>
              <a:t> </a:t>
            </a:r>
            <a:r>
              <a:rPr lang="en-US" dirty="0" err="1"/>
              <a:t>comportamente</a:t>
            </a:r>
            <a:r>
              <a:rPr lang="en-US" dirty="0"/>
              <a:t> </a:t>
            </a:r>
            <a:r>
              <a:rPr lang="en-US" dirty="0" err="1"/>
              <a:t>matematice</a:t>
            </a:r>
            <a:r>
              <a:rPr lang="en-US" dirty="0"/>
              <a:t> </a:t>
            </a:r>
            <a:r>
              <a:rPr lang="en-US" dirty="0" err="1"/>
              <a:t>imposibil</a:t>
            </a:r>
            <a:r>
              <a:rPr lang="en-US" dirty="0"/>
              <a:t> de </a:t>
            </a:r>
            <a:r>
              <a:rPr lang="en-US" dirty="0" err="1"/>
              <a:t>alterat</a:t>
            </a:r>
            <a:r>
              <a:rPr lang="en-US" dirty="0"/>
              <a:t>, </a:t>
            </a:r>
            <a:r>
              <a:rPr lang="en-US" dirty="0" err="1"/>
              <a:t>demonstrandu</a:t>
            </a:r>
            <a:r>
              <a:rPr lang="en-US" dirty="0"/>
              <a:t>-se </a:t>
            </a:r>
            <a:r>
              <a:rPr lang="en-US" dirty="0" err="1"/>
              <a:t>teoretic</a:t>
            </a:r>
            <a:r>
              <a:rPr lang="en-US" dirty="0"/>
              <a:t> ca </a:t>
            </a:r>
            <a:r>
              <a:rPr lang="en-US" dirty="0" err="1"/>
              <a:t>schimbarile</a:t>
            </a:r>
            <a:r>
              <a:rPr lang="en-US" dirty="0"/>
              <a:t> </a:t>
            </a:r>
            <a:r>
              <a:rPr lang="en-US" dirty="0" err="1"/>
              <a:t>invizibile</a:t>
            </a:r>
            <a:r>
              <a:rPr lang="en-US" dirty="0"/>
              <a:t> </a:t>
            </a:r>
            <a:r>
              <a:rPr lang="en-US" dirty="0" err="1"/>
              <a:t>sintactice</a:t>
            </a:r>
            <a:r>
              <a:rPr lang="en-US" dirty="0"/>
              <a:t> ale </a:t>
            </a:r>
            <a:r>
              <a:rPr lang="en-US" dirty="0" err="1"/>
              <a:t>pitest</a:t>
            </a:r>
            <a:r>
              <a:rPr lang="en-US" dirty="0"/>
              <a:t> (ex total &gt;=105 in loc de &gt;105 </a:t>
            </a:r>
            <a:r>
              <a:rPr lang="en-US" dirty="0" err="1"/>
              <a:t>dat</a:t>
            </a:r>
            <a:r>
              <a:rPr lang="en-US" dirty="0"/>
              <a:t> </a:t>
            </a:r>
            <a:r>
              <a:rPr lang="en-US" dirty="0" err="1"/>
              <a:t>restrictiei</a:t>
            </a:r>
            <a:r>
              <a:rPr lang="en-US" dirty="0"/>
              <a:t> pe 105 </a:t>
            </a:r>
            <a:r>
              <a:rPr lang="en-US" dirty="0" err="1"/>
              <a:t>oricum</a:t>
            </a:r>
            <a:r>
              <a:rPr lang="en-US" dirty="0"/>
              <a:t>) </a:t>
            </a:r>
            <a:r>
              <a:rPr lang="en-US" dirty="0" err="1"/>
              <a:t>raman</a:t>
            </a:r>
            <a:r>
              <a:rPr lang="en-US" dirty="0"/>
              <a:t> </a:t>
            </a:r>
            <a:r>
              <a:rPr lang="en-US" dirty="0" err="1"/>
              <a:t>echivalente</a:t>
            </a:r>
            <a:r>
              <a:rPr lang="en-US" dirty="0"/>
              <a:t> cu </a:t>
            </a:r>
            <a:r>
              <a:rPr lang="en-US" dirty="0" err="1"/>
              <a:t>normalul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documentate</a:t>
            </a:r>
            <a:r>
              <a:rPr lang="en-US" dirty="0"/>
              <a:t> </a:t>
            </a:r>
            <a:r>
              <a:rPr lang="en-US" dirty="0" err="1"/>
              <a:t>corect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2FBD6AF-2CC6-8F4C-A63A-4D12A6183EB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24625" y="2285999"/>
            <a:ext cx="5415864" cy="3038493"/>
          </a:xfrm>
        </p:spPr>
      </p:pic>
    </p:spTree>
    <p:extLst>
      <p:ext uri="{BB962C8B-B14F-4D97-AF65-F5344CB8AC3E}">
        <p14:creationId xmlns:p14="http://schemas.microsoft.com/office/powerpoint/2010/main" val="9977429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F5CE3-91D3-784A-9E87-47CE9FDFA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Concluzii</a:t>
            </a:r>
            <a:r>
              <a:rPr lang="en-US" dirty="0"/>
              <a:t> </a:t>
            </a:r>
            <a:r>
              <a:rPr lang="en-US" dirty="0" err="1"/>
              <a:t>Tehnice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A5E39-520C-3F4A-BFB4-5E031B87BF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Aplicatia</a:t>
            </a:r>
            <a:r>
              <a:rPr lang="en-US" dirty="0"/>
              <a:t> </a:t>
            </a:r>
            <a:r>
              <a:rPr lang="en-US" dirty="0" err="1"/>
              <a:t>construita</a:t>
            </a:r>
            <a:r>
              <a:rPr lang="en-US" dirty="0"/>
              <a:t> a </a:t>
            </a:r>
            <a:r>
              <a:rPr lang="en-US" dirty="0" err="1"/>
              <a:t>bifat</a:t>
            </a:r>
            <a:r>
              <a:rPr lang="en-US" dirty="0"/>
              <a:t> pe </a:t>
            </a:r>
            <a:r>
              <a:rPr lang="en-US" dirty="0" err="1"/>
              <a:t>linia</a:t>
            </a:r>
            <a:r>
              <a:rPr lang="en-US" dirty="0"/>
              <a:t> </a:t>
            </a:r>
            <a:r>
              <a:rPr lang="en-US" dirty="0" err="1"/>
              <a:t>functionala</a:t>
            </a:r>
            <a:r>
              <a:rPr lang="en-US" dirty="0"/>
              <a:t> 100% </a:t>
            </a:r>
            <a:r>
              <a:rPr lang="en-US" dirty="0" err="1"/>
              <a:t>toate</a:t>
            </a:r>
            <a:r>
              <a:rPr lang="en-US" dirty="0"/>
              <a:t> </a:t>
            </a:r>
            <a:r>
              <a:rPr lang="en-US" dirty="0" err="1"/>
              <a:t>cerintele</a:t>
            </a:r>
            <a:r>
              <a:rPr lang="en-US" dirty="0"/>
              <a:t> cu brio, </a:t>
            </a:r>
            <a:r>
              <a:rPr lang="en-US" dirty="0" err="1"/>
              <a:t>intarindu</a:t>
            </a:r>
            <a:r>
              <a:rPr lang="en-US" dirty="0"/>
              <a:t>-se anti-</a:t>
            </a:r>
            <a:r>
              <a:rPr lang="en-US" dirty="0" err="1"/>
              <a:t>fragele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Combinarea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multor</a:t>
            </a:r>
            <a:r>
              <a:rPr lang="en-US" dirty="0"/>
              <a:t> </a:t>
            </a:r>
            <a:r>
              <a:rPr lang="en-US" dirty="0" err="1"/>
              <a:t>tipologii</a:t>
            </a:r>
            <a:r>
              <a:rPr lang="en-US" dirty="0"/>
              <a:t> de </a:t>
            </a:r>
            <a:r>
              <a:rPr lang="en-US" dirty="0" err="1"/>
              <a:t>generatoare</a:t>
            </a:r>
            <a:r>
              <a:rPr lang="en-US" dirty="0"/>
              <a:t> de teste (</a:t>
            </a:r>
            <a:r>
              <a:rPr lang="en-US" dirty="0" err="1"/>
              <a:t>Echivalente</a:t>
            </a:r>
            <a:r>
              <a:rPr lang="en-US" dirty="0"/>
              <a:t> + Boundary) </a:t>
            </a:r>
            <a:r>
              <a:rPr lang="en-US" dirty="0" err="1"/>
              <a:t>previne</a:t>
            </a:r>
            <a:r>
              <a:rPr lang="en-US" dirty="0"/>
              <a:t> </a:t>
            </a:r>
            <a:r>
              <a:rPr lang="en-US" dirty="0" err="1"/>
              <a:t>aparitia</a:t>
            </a:r>
            <a:r>
              <a:rPr lang="en-US" dirty="0"/>
              <a:t> </a:t>
            </a:r>
            <a:r>
              <a:rPr lang="en-US" dirty="0" err="1"/>
              <a:t>efectelor</a:t>
            </a:r>
            <a:r>
              <a:rPr lang="en-US" dirty="0"/>
              <a:t> de colt in </a:t>
            </a:r>
            <a:r>
              <a:rPr lang="en-US" dirty="0" err="1"/>
              <a:t>productie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Utilizarea</a:t>
            </a:r>
            <a:r>
              <a:rPr lang="en-US" dirty="0"/>
              <a:t> AI a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benefica</a:t>
            </a:r>
            <a:r>
              <a:rPr lang="en-US" dirty="0"/>
              <a:t> </a:t>
            </a:r>
            <a:r>
              <a:rPr lang="en-US" dirty="0" err="1"/>
              <a:t>doar</a:t>
            </a:r>
            <a:r>
              <a:rPr lang="en-US" dirty="0"/>
              <a:t> in zona </a:t>
            </a:r>
            <a:r>
              <a:rPr lang="en-US" dirty="0" err="1"/>
              <a:t>structurala</a:t>
            </a:r>
            <a:r>
              <a:rPr lang="en-US" dirty="0"/>
              <a:t> de </a:t>
            </a:r>
            <a:r>
              <a:rPr lang="en-US" dirty="0" err="1"/>
              <a:t>ideatie</a:t>
            </a:r>
            <a:r>
              <a:rPr lang="en-US" dirty="0"/>
              <a:t>, </a:t>
            </a:r>
            <a:r>
              <a:rPr lang="en-US" dirty="0" err="1"/>
              <a:t>insa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intelegerea</a:t>
            </a:r>
            <a:r>
              <a:rPr lang="en-US" dirty="0"/>
              <a:t> </a:t>
            </a:r>
            <a:r>
              <a:rPr lang="en-US" dirty="0" err="1"/>
              <a:t>mutatiilor</a:t>
            </a:r>
            <a:r>
              <a:rPr lang="en-US" dirty="0"/>
              <a:t> </a:t>
            </a:r>
            <a:r>
              <a:rPr lang="en-US" dirty="0" err="1"/>
              <a:t>echivalente</a:t>
            </a:r>
            <a:r>
              <a:rPr lang="en-US" dirty="0"/>
              <a:t> </a:t>
            </a:r>
            <a:r>
              <a:rPr lang="en-US" dirty="0" err="1"/>
              <a:t>analiza</a:t>
            </a:r>
            <a:r>
              <a:rPr lang="en-US" dirty="0"/>
              <a:t> </a:t>
            </a:r>
            <a:r>
              <a:rPr lang="en-US" dirty="0" err="1"/>
              <a:t>logica</a:t>
            </a:r>
            <a:r>
              <a:rPr lang="en-US" dirty="0"/>
              <a:t> </a:t>
            </a:r>
            <a:r>
              <a:rPr lang="en-US" dirty="0" err="1"/>
              <a:t>umana</a:t>
            </a:r>
            <a:r>
              <a:rPr lang="en-US" dirty="0"/>
              <a:t> din teste a </a:t>
            </a:r>
            <a:r>
              <a:rPr lang="en-US" dirty="0" err="1"/>
              <a:t>ramas</a:t>
            </a:r>
            <a:r>
              <a:rPr lang="en-US" dirty="0"/>
              <a:t> </a:t>
            </a:r>
            <a:r>
              <a:rPr lang="en-US" dirty="0" err="1"/>
              <a:t>fundamentala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1517650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Crop</Template>
  <TotalTime>129</TotalTime>
  <Words>652</Words>
  <Application>Microsoft Macintosh PowerPoint</Application>
  <PresentationFormat>Widescreen</PresentationFormat>
  <Paragraphs>44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Franklin Gothic Book</vt:lpstr>
      <vt:lpstr>Crop</vt:lpstr>
      <vt:lpstr>T3 - Testare Unitară în Java</vt:lpstr>
      <vt:lpstr>Obiectivul si Contextul Proiectului </vt:lpstr>
      <vt:lpstr>Functia Aleasa: Calculator de Note </vt:lpstr>
      <vt:lpstr>Testarea Functionala</vt:lpstr>
      <vt:lpstr>Testarea Structurala cu JaCoCo </vt:lpstr>
      <vt:lpstr>Validarea Atomica (Condition &amp; MC/DC) </vt:lpstr>
      <vt:lpstr>Circuite Inteligente</vt:lpstr>
      <vt:lpstr>Sfidarea prin Mutatii (PITest) </vt:lpstr>
      <vt:lpstr>Indicatorul de Omorare &amp; Mutanti Echivalenti </vt:lpstr>
      <vt:lpstr>Concluzii Tehnice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T3 - Testare Unitară în Java</dc:title>
  <dc:creator>TUDOR-FLORIAN APOSTOL</dc:creator>
  <cp:lastModifiedBy>TUDOR-FLORIAN APOSTOL</cp:lastModifiedBy>
  <cp:revision>1</cp:revision>
  <dcterms:created xsi:type="dcterms:W3CDTF">2026-04-19T20:22:16Z</dcterms:created>
  <dcterms:modified xsi:type="dcterms:W3CDTF">2026-04-19T22:31:45Z</dcterms:modified>
</cp:coreProperties>
</file>